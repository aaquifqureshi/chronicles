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6" r:id="rId9"/>
    <p:sldId id="286" r:id="rId10"/>
    <p:sldId id="294" r:id="rId11"/>
    <p:sldId id="279" r:id="rId12"/>
    <p:sldId id="270" r:id="rId13"/>
    <p:sldId id="273" r:id="rId14"/>
    <p:sldId id="275" r:id="rId15"/>
    <p:sldId id="276" r:id="rId16"/>
    <p:sldId id="277" r:id="rId17"/>
    <p:sldId id="278" r:id="rId18"/>
    <p:sldId id="297" r:id="rId19"/>
    <p:sldId id="292" r:id="rId20"/>
    <p:sldId id="293" r:id="rId21"/>
    <p:sldId id="289" r:id="rId22"/>
    <p:sldId id="311" r:id="rId23"/>
    <p:sldId id="327" r:id="rId24"/>
    <p:sldId id="312" r:id="rId25"/>
    <p:sldId id="328" r:id="rId26"/>
    <p:sldId id="313" r:id="rId27"/>
    <p:sldId id="326" r:id="rId28"/>
    <p:sldId id="314" r:id="rId29"/>
    <p:sldId id="329" r:id="rId30"/>
    <p:sldId id="339" r:id="rId31"/>
    <p:sldId id="340" r:id="rId32"/>
    <p:sldId id="343" r:id="rId33"/>
    <p:sldId id="341" r:id="rId34"/>
    <p:sldId id="342" r:id="rId35"/>
    <p:sldId id="345" r:id="rId36"/>
    <p:sldId id="344" r:id="rId37"/>
    <p:sldId id="346" r:id="rId38"/>
    <p:sldId id="321" r:id="rId39"/>
    <p:sldId id="296" r:id="rId40"/>
    <p:sldId id="316" r:id="rId41"/>
    <p:sldId id="319" r:id="rId42"/>
    <p:sldId id="320" r:id="rId43"/>
    <p:sldId id="315" r:id="rId44"/>
    <p:sldId id="317" r:id="rId45"/>
    <p:sldId id="322" r:id="rId46"/>
    <p:sldId id="330" r:id="rId47"/>
    <p:sldId id="331" r:id="rId48"/>
    <p:sldId id="334" r:id="rId49"/>
    <p:sldId id="337" r:id="rId50"/>
    <p:sldId id="335" r:id="rId51"/>
    <p:sldId id="332" r:id="rId52"/>
    <p:sldId id="336" r:id="rId53"/>
    <p:sldId id="338" r:id="rId54"/>
    <p:sldId id="323" r:id="rId55"/>
    <p:sldId id="281" r:id="rId56"/>
    <p:sldId id="282" r:id="rId57"/>
    <p:sldId id="283" r:id="rId58"/>
    <p:sldId id="284" r:id="rId59"/>
    <p:sldId id="285" r:id="rId60"/>
    <p:sldId id="288" r:id="rId61"/>
    <p:sldId id="300" r:id="rId62"/>
    <p:sldId id="299" r:id="rId63"/>
    <p:sldId id="301" r:id="rId64"/>
    <p:sldId id="267" r:id="rId65"/>
    <p:sldId id="268" r:id="rId66"/>
    <p:sldId id="269" r:id="rId67"/>
    <p:sldId id="302" r:id="rId68"/>
    <p:sldId id="271" r:id="rId69"/>
    <p:sldId id="272" r:id="rId70"/>
    <p:sldId id="303" r:id="rId71"/>
    <p:sldId id="274" r:id="rId72"/>
    <p:sldId id="305" r:id="rId73"/>
    <p:sldId id="304" r:id="rId74"/>
    <p:sldId id="306" r:id="rId75"/>
    <p:sldId id="307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ABCC"/>
    <a:srgbClr val="172C51"/>
    <a:srgbClr val="E7E6E6"/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spPr>
            <a:solidFill>
              <a:schemeClr val="tx1"/>
            </a:solidFill>
          </c:spPr>
          <c:dPt>
            <c:idx val="0"/>
            <c:bubble3D val="0"/>
            <c:spPr>
              <a:solidFill>
                <a:srgbClr val="FF000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8B3D-4D08-8CA1-B60CE7E968D1}"/>
              </c:ext>
            </c:extLst>
          </c:dPt>
          <c:dPt>
            <c:idx val="1"/>
            <c:bubble3D val="0"/>
            <c:spPr>
              <a:solidFill>
                <a:srgbClr val="92D05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8B3D-4D08-8CA1-B60CE7E968D1}"/>
              </c:ext>
            </c:extLst>
          </c:dPt>
          <c:dPt>
            <c:idx val="2"/>
            <c:bubble3D val="0"/>
            <c:spPr>
              <a:solidFill>
                <a:srgbClr val="4EABCC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8B3D-4D08-8CA1-B60CE7E968D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Introverts</c:v>
                </c:pt>
                <c:pt idx="1">
                  <c:v>Extroverts</c:v>
                </c:pt>
                <c:pt idx="2">
                  <c:v>Ambiverts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10</c:v>
                </c:pt>
                <c:pt idx="2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3D-4D08-8CA1-B60CE7E968D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658901-9232-41E2-B54A-6177AC542F0A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7A501-7054-47BD-8891-38D8FDEB2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410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7A501-7054-47BD-8891-38D8FDEB237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455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7A501-7054-47BD-8891-38D8FDEB237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301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7A501-7054-47BD-8891-38D8FDEB237B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410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7A501-7054-47BD-8891-38D8FDEB237B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264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9FB61-F0CB-180B-818C-038E0EDF4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CA3AFB-09F8-46D1-4650-E8D87DED3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5028D-1B25-0E67-84BA-4978BE4CC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869B-7F8D-4D85-B523-722DAC57E0FE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38CEB-FE0A-E34A-3A6C-6820667EE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DAFF8-ADFF-C52B-EBDD-BA9A68ABF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618D-4A5F-41F6-B764-91EB25052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702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A57CF-E31B-5B4E-09B2-53DA47898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87F69-3538-5FE3-C79D-5633FFC8B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15F00-17C7-89FF-C078-95C3CAF95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869B-7F8D-4D85-B523-722DAC57E0FE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D33A3-CFF9-2C57-1ED9-FD56B6346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79239-90B6-0A79-08D4-AB90DA66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618D-4A5F-41F6-B764-91EB25052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81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F7534-21C4-9C90-8B88-9E335C920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43BC2-FF72-1570-1BEA-478A08519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5EB79-EA61-7E56-9899-FAD88A1B6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869B-7F8D-4D85-B523-722DAC57E0FE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55FA4-A40F-101F-A40F-8C1A84124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CA042-03F6-5BB4-7C7D-E1B0E4CA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618D-4A5F-41F6-B764-91EB25052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522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0458-ED2E-9BDF-0AFD-14DD0DA5D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33A10-6F58-4188-E0A4-F609C749AF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9509F-3FF2-9DAB-D408-A2F8DE170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DBC53-15D9-BD0B-671A-E36FBF78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869B-7F8D-4D85-B523-722DAC57E0FE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ECBA0-6B91-BF1D-C4AF-E7D87CC6B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28E3E-D3CA-DC36-B591-0349D044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618D-4A5F-41F6-B764-91EB25052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622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EA671-C5C2-E4D5-0A7F-8E3262EF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7349C-D1C0-AD29-88B9-C9A848DAB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969E9-F9BA-A736-5A8A-E982F0D08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A6B71-1354-BEEC-CF4F-A11C940916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BA7D5-94B8-87E4-0422-20C7224038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B92C0B-A5B1-3914-D738-137E0B16C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869B-7F8D-4D85-B523-722DAC57E0FE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FE77C4-7F5C-74E5-99AF-DABC6EFC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16FA07-7C8C-7F87-254C-67C0AECAD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618D-4A5F-41F6-B764-91EB25052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72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D5DB8-9503-AF58-2C2D-027D7C021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387FB0-3259-7AF5-4A4B-A563EF21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869B-7F8D-4D85-B523-722DAC57E0FE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B6B94-6439-AB2A-9FA9-C964B736F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3C90D-2709-CF2C-0319-5136F82AD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618D-4A5F-41F6-B764-91EB25052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95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221487-90C0-6CDB-961D-FEDD64484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869B-7F8D-4D85-B523-722DAC57E0FE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7A7C11-5DBC-D312-2D91-87FD7F0FC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7CE34-955F-8D71-DFDB-C74773717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618D-4A5F-41F6-B764-91EB25052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117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C2B5E-1F7F-0E62-D861-8D6E2E5F3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34273-454F-BA31-6714-E355162EF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657A83-7F69-A474-A422-E222E72F5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0A1DC-F5F9-BA0B-F94C-57F06D6F4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869B-7F8D-4D85-B523-722DAC57E0FE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9C98C-E116-85BE-28EA-EB15715B6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67D50-4691-988F-316F-68914F016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618D-4A5F-41F6-B764-91EB25052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454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70731-FB37-0F4B-C999-2188DA23B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FC5E4A-6BD0-7B61-2C9C-12C438283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B83EA1-3CCE-88F0-7699-7E6585540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8B2DB-7CFB-8CB1-C4A6-E5E1271F6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869B-7F8D-4D85-B523-722DAC57E0FE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54936-FB1B-62AE-1947-58AFF0550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578BA-198E-F7B6-F6F0-EEDD3069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618D-4A5F-41F6-B764-91EB25052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10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78679-EB44-A084-A38D-AA1F91B69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C2570-5D19-ABD6-7672-3D3F79084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530D0-64CD-60F6-35C9-BB7B85E6E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869B-7F8D-4D85-B523-722DAC57E0FE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E35F1-CD68-7B00-BC0E-50C4C8714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72791-4F03-B677-B2F6-56DDA3665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618D-4A5F-41F6-B764-91EB25052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63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05909A-D03B-F807-7E7E-FBA8D39C82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4018B1-4212-1175-D3E0-BB9B44890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7E2AA-3A57-D392-1633-C9BCF825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869B-7F8D-4D85-B523-722DAC57E0FE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CE8C5-9E74-383D-FFAC-D38325597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C6648-2E52-6F01-A6E6-9BC8A6214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618D-4A5F-41F6-B764-91EB25052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191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46E295-E606-DCD3-B212-5F741E30B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475F8-0DFE-7DB9-4A87-65C1EA2F7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79718-1290-B224-3134-3BAF98C0A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8869B-7F8D-4D85-B523-722DAC57E0FE}" type="datetimeFigureOut">
              <a:rPr lang="en-IN" smtClean="0"/>
              <a:t>11-12-2024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112EC-FA61-D7F1-786B-47619EBB8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9598E-1017-5C58-CB82-C9EB217A3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B618D-4A5F-41F6-B764-91EB25052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780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5" Type="http://schemas.openxmlformats.org/officeDocument/2006/relationships/image" Target="../media/image37.sv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64.xml"/><Relationship Id="rId13" Type="http://schemas.openxmlformats.org/officeDocument/2006/relationships/slide" Target="slide68.xml"/><Relationship Id="rId3" Type="http://schemas.openxmlformats.org/officeDocument/2006/relationships/slide" Target="slide61.xml"/><Relationship Id="rId7" Type="http://schemas.openxmlformats.org/officeDocument/2006/relationships/slide" Target="slide65.xml"/><Relationship Id="rId12" Type="http://schemas.openxmlformats.org/officeDocument/2006/relationships/slide" Target="slide71.xml"/><Relationship Id="rId17" Type="http://schemas.openxmlformats.org/officeDocument/2006/relationships/slide" Target="slide75.xml"/><Relationship Id="rId2" Type="http://schemas.openxmlformats.org/officeDocument/2006/relationships/image" Target="../media/image61.png"/><Relationship Id="rId16" Type="http://schemas.openxmlformats.org/officeDocument/2006/relationships/slide" Target="slide74.xml"/><Relationship Id="rId1" Type="http://schemas.openxmlformats.org/officeDocument/2006/relationships/slideLayout" Target="../slideLayouts/slideLayout6.xml"/><Relationship Id="rId6" Type="http://schemas.openxmlformats.org/officeDocument/2006/relationships/slide" Target="slide63.xml"/><Relationship Id="rId11" Type="http://schemas.openxmlformats.org/officeDocument/2006/relationships/slide" Target="slide72.xml"/><Relationship Id="rId5" Type="http://schemas.openxmlformats.org/officeDocument/2006/relationships/slide" Target="slide66.xml"/><Relationship Id="rId15" Type="http://schemas.openxmlformats.org/officeDocument/2006/relationships/slide" Target="slide67.xml"/><Relationship Id="rId10" Type="http://schemas.openxmlformats.org/officeDocument/2006/relationships/slide" Target="slide73.xml"/><Relationship Id="rId4" Type="http://schemas.openxmlformats.org/officeDocument/2006/relationships/slide" Target="slide62.xml"/><Relationship Id="rId9" Type="http://schemas.openxmlformats.org/officeDocument/2006/relationships/slide" Target="slide70.xml"/><Relationship Id="rId14" Type="http://schemas.openxmlformats.org/officeDocument/2006/relationships/slide" Target="slide6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1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6.png"/><Relationship Id="rId5" Type="http://schemas.openxmlformats.org/officeDocument/2006/relationships/image" Target="../media/image95.jpeg"/><Relationship Id="rId4" Type="http://schemas.openxmlformats.org/officeDocument/2006/relationships/image" Target="../media/image94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E3373A-ADBD-B28E-F791-75A7974B63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180" y="5876787"/>
            <a:ext cx="1299516" cy="6780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F1E1F2-AAD7-F91F-CC41-21DA25F04F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180" y="1632950"/>
            <a:ext cx="1431639" cy="1137666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772D222-C4B9-90E7-1134-41D8D8F47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26743"/>
            <a:ext cx="9144000" cy="1137667"/>
          </a:xfrm>
        </p:spPr>
        <p:txBody>
          <a:bodyPr/>
          <a:lstStyle/>
          <a:p>
            <a:r>
              <a:rPr lang="en-US" dirty="0"/>
              <a:t>Capstone Project - 1</a:t>
            </a: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E085AAB-B97A-A7D7-D313-5B7029894294}"/>
              </a:ext>
            </a:extLst>
          </p:cNvPr>
          <p:cNvSpPr txBox="1">
            <a:spLocks/>
          </p:cNvSpPr>
          <p:nvPr/>
        </p:nvSpPr>
        <p:spPr>
          <a:xfrm>
            <a:off x="1524000" y="2680176"/>
            <a:ext cx="9144000" cy="10410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4EABCC"/>
                </a:solidFill>
              </a:rPr>
              <a:t>Journal</a:t>
            </a:r>
            <a:r>
              <a:rPr lang="en-US" dirty="0"/>
              <a:t> AI</a:t>
            </a:r>
            <a:endParaRPr lang="en-IN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BBDCAB9-9BFF-2D3C-7B08-8F4853A6F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12115"/>
            <a:ext cx="9144000" cy="549338"/>
          </a:xfrm>
        </p:spPr>
        <p:txBody>
          <a:bodyPr/>
          <a:lstStyle/>
          <a:p>
            <a:r>
              <a:rPr lang="en-US" dirty="0"/>
              <a:t>Chronicles – Write Your Journey</a:t>
            </a:r>
            <a:endParaRPr lang="en-IN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7C619CB-E3A4-3B66-9B2D-28A4A81CB9F8}"/>
              </a:ext>
            </a:extLst>
          </p:cNvPr>
          <p:cNvSpPr txBox="1">
            <a:spLocks/>
          </p:cNvSpPr>
          <p:nvPr/>
        </p:nvSpPr>
        <p:spPr>
          <a:xfrm>
            <a:off x="1524000" y="344493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Dr. Jenny </a:t>
            </a:r>
            <a:r>
              <a:rPr lang="en-US" sz="3600" dirty="0" err="1"/>
              <a:t>Kasudiya</a:t>
            </a:r>
            <a:endParaRPr lang="en-IN" sz="3600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1D09001-08C2-C87F-118D-95CD4EA8C3EA}"/>
              </a:ext>
            </a:extLst>
          </p:cNvPr>
          <p:cNvSpPr txBox="1">
            <a:spLocks/>
          </p:cNvSpPr>
          <p:nvPr/>
        </p:nvSpPr>
        <p:spPr>
          <a:xfrm>
            <a:off x="1524000" y="5026216"/>
            <a:ext cx="9144000" cy="422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Under Guidance of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14583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AF57A-17BE-FDA9-D3CD-F3897C96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80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4EABCC"/>
                </a:solidFill>
              </a:rPr>
              <a:t>Team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6A711A-CB1D-9569-30A8-B3C145FE9F1F}"/>
              </a:ext>
            </a:extLst>
          </p:cNvPr>
          <p:cNvSpPr/>
          <p:nvPr/>
        </p:nvSpPr>
        <p:spPr>
          <a:xfrm>
            <a:off x="6241507" y="3258312"/>
            <a:ext cx="2432304" cy="8138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Datari </a:t>
            </a:r>
            <a:r>
              <a:rPr lang="en-US" dirty="0">
                <a:solidFill>
                  <a:srgbClr val="4EABCC"/>
                </a:solidFill>
                <a:latin typeface="Arial Narrow" panose="020B0606020202030204" pitchFamily="34" charset="0"/>
              </a:rPr>
              <a:t>Asgar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Kalbehusen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2B3EE7-8A53-D2CD-C430-CE08013AF29C}"/>
              </a:ext>
            </a:extLst>
          </p:cNvPr>
          <p:cNvSpPr/>
          <p:nvPr/>
        </p:nvSpPr>
        <p:spPr>
          <a:xfrm>
            <a:off x="623316" y="3259836"/>
            <a:ext cx="2691382" cy="8138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Qureshi </a:t>
            </a:r>
            <a:r>
              <a:rPr lang="en-US" dirty="0">
                <a:solidFill>
                  <a:srgbClr val="4EABCC"/>
                </a:solidFill>
                <a:latin typeface="Arial Narrow" panose="020B0606020202030204" pitchFamily="34" charset="0"/>
              </a:rPr>
              <a:t>Aaquif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Shafikahmed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BEEBA-9870-10B8-E567-AE8FD7BCCE63}"/>
              </a:ext>
            </a:extLst>
          </p:cNvPr>
          <p:cNvSpPr/>
          <p:nvPr/>
        </p:nvSpPr>
        <p:spPr>
          <a:xfrm>
            <a:off x="9003797" y="3259836"/>
            <a:ext cx="2350004" cy="8138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Shah </a:t>
            </a:r>
            <a:r>
              <a:rPr lang="en-US" dirty="0">
                <a:solidFill>
                  <a:srgbClr val="4EABCC"/>
                </a:solidFill>
                <a:latin typeface="Arial Narrow" panose="020B0606020202030204" pitchFamily="34" charset="0"/>
              </a:rPr>
              <a:t>Malav</a:t>
            </a:r>
            <a:r>
              <a:rPr lang="en-US" dirty="0">
                <a:latin typeface="Arial Narrow" panose="020B0606020202030204" pitchFamily="34" charset="0"/>
              </a:rPr>
              <a:t> Ajay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277EA9-7212-D1B4-A1D0-2CB1319C034B}"/>
              </a:ext>
            </a:extLst>
          </p:cNvPr>
          <p:cNvSpPr/>
          <p:nvPr/>
        </p:nvSpPr>
        <p:spPr>
          <a:xfrm>
            <a:off x="6241507" y="4223004"/>
            <a:ext cx="2432304" cy="4023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202202626010009</a:t>
            </a:r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131B56-C4EB-08A7-1D46-129455B19971}"/>
              </a:ext>
            </a:extLst>
          </p:cNvPr>
          <p:cNvSpPr/>
          <p:nvPr/>
        </p:nvSpPr>
        <p:spPr>
          <a:xfrm>
            <a:off x="794005" y="4224528"/>
            <a:ext cx="2432304" cy="4023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202202626010033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1C584F-2CC4-E595-7180-E4C48078A9B6}"/>
              </a:ext>
            </a:extLst>
          </p:cNvPr>
          <p:cNvSpPr/>
          <p:nvPr/>
        </p:nvSpPr>
        <p:spPr>
          <a:xfrm>
            <a:off x="9003796" y="4224528"/>
            <a:ext cx="2432304" cy="4023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202202626010041</a:t>
            </a:r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D649B5-3255-65CE-1FBB-FDFFE6B9154F}"/>
              </a:ext>
            </a:extLst>
          </p:cNvPr>
          <p:cNvSpPr/>
          <p:nvPr/>
        </p:nvSpPr>
        <p:spPr>
          <a:xfrm>
            <a:off x="6241507" y="4776216"/>
            <a:ext cx="2432304" cy="4023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ptos" panose="020B0004020202020204" pitchFamily="34" charset="0"/>
                <a:cs typeface="Courier New" panose="02070309020205020404" pitchFamily="49" charset="0"/>
              </a:rPr>
              <a:t>datariasgar15@gmail.com</a:t>
            </a:r>
            <a:endParaRPr lang="en-IN" sz="1200" dirty="0">
              <a:latin typeface="Aptos" panose="020B00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DCA044-1B70-1B63-6BD0-13399A107DE0}"/>
              </a:ext>
            </a:extLst>
          </p:cNvPr>
          <p:cNvSpPr/>
          <p:nvPr/>
        </p:nvSpPr>
        <p:spPr>
          <a:xfrm>
            <a:off x="794005" y="4777740"/>
            <a:ext cx="2432304" cy="4023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ptos" panose="020B0004020202020204" pitchFamily="34" charset="0"/>
                <a:cs typeface="Courier New" panose="02070309020205020404" pitchFamily="49" charset="0"/>
              </a:rPr>
              <a:t>aaquifsqureshi@gmail.com</a:t>
            </a:r>
            <a:endParaRPr lang="en-IN" sz="1200" dirty="0">
              <a:latin typeface="Aptos" panose="020B00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85D29A1-B1FE-13FE-EBB2-126A30C84AC3}"/>
              </a:ext>
            </a:extLst>
          </p:cNvPr>
          <p:cNvSpPr/>
          <p:nvPr/>
        </p:nvSpPr>
        <p:spPr>
          <a:xfrm>
            <a:off x="9003796" y="4777740"/>
            <a:ext cx="2432304" cy="4023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ptos" panose="020B0004020202020204" pitchFamily="34" charset="0"/>
                <a:cs typeface="Courier New" panose="02070309020205020404" pitchFamily="49" charset="0"/>
              </a:rPr>
              <a:t>malavshah3112@gmail.com</a:t>
            </a:r>
            <a:endParaRPr lang="en-IN" sz="1200" dirty="0">
              <a:latin typeface="Aptos" panose="020B0004020202020204" pitchFamily="34" charset="0"/>
              <a:cs typeface="Courier New" panose="02070309020205020404" pitchFamily="49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8F0F3B-A026-8999-BC0F-EE81F52A7D34}"/>
              </a:ext>
            </a:extLst>
          </p:cNvPr>
          <p:cNvCxnSpPr/>
          <p:nvPr/>
        </p:nvCxnSpPr>
        <p:spPr>
          <a:xfrm>
            <a:off x="3410712" y="1481328"/>
            <a:ext cx="0" cy="5175504"/>
          </a:xfrm>
          <a:prstGeom prst="line">
            <a:avLst/>
          </a:prstGeom>
          <a:ln w="38100">
            <a:solidFill>
              <a:srgbClr val="4EAB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6B9891-6089-952D-0451-0BB25FA8F1C5}"/>
              </a:ext>
            </a:extLst>
          </p:cNvPr>
          <p:cNvCxnSpPr/>
          <p:nvPr/>
        </p:nvCxnSpPr>
        <p:spPr>
          <a:xfrm>
            <a:off x="6102096" y="1481328"/>
            <a:ext cx="0" cy="5175504"/>
          </a:xfrm>
          <a:prstGeom prst="line">
            <a:avLst/>
          </a:prstGeom>
          <a:ln w="38100">
            <a:solidFill>
              <a:srgbClr val="4EAB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24BAA3-A3D9-E39B-5643-8C70DBF0D5DE}"/>
              </a:ext>
            </a:extLst>
          </p:cNvPr>
          <p:cNvCxnSpPr/>
          <p:nvPr/>
        </p:nvCxnSpPr>
        <p:spPr>
          <a:xfrm>
            <a:off x="8802624" y="1485900"/>
            <a:ext cx="0" cy="5175504"/>
          </a:xfrm>
          <a:prstGeom prst="line">
            <a:avLst/>
          </a:prstGeom>
          <a:ln w="38100">
            <a:solidFill>
              <a:srgbClr val="4EAB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946A3F2-432F-1619-09CD-C25D8B9C84DE}"/>
              </a:ext>
            </a:extLst>
          </p:cNvPr>
          <p:cNvCxnSpPr>
            <a:cxnSpLocks/>
          </p:cNvCxnSpPr>
          <p:nvPr/>
        </p:nvCxnSpPr>
        <p:spPr>
          <a:xfrm>
            <a:off x="6241507" y="4072128"/>
            <a:ext cx="2319528" cy="0"/>
          </a:xfrm>
          <a:prstGeom prst="line">
            <a:avLst/>
          </a:prstGeom>
          <a:ln w="3175">
            <a:solidFill>
              <a:srgbClr val="4EAB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9308E77-03E2-1C54-FB3A-21823C31AC9E}"/>
              </a:ext>
            </a:extLst>
          </p:cNvPr>
          <p:cNvCxnSpPr>
            <a:cxnSpLocks/>
          </p:cNvCxnSpPr>
          <p:nvPr/>
        </p:nvCxnSpPr>
        <p:spPr>
          <a:xfrm>
            <a:off x="6241507" y="4768596"/>
            <a:ext cx="2319528" cy="0"/>
          </a:xfrm>
          <a:prstGeom prst="line">
            <a:avLst/>
          </a:prstGeom>
          <a:ln w="3175">
            <a:solidFill>
              <a:srgbClr val="4EAB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D353ADD-B385-71EB-FB1A-C7C1C49CD54F}"/>
              </a:ext>
            </a:extLst>
          </p:cNvPr>
          <p:cNvCxnSpPr>
            <a:cxnSpLocks/>
          </p:cNvCxnSpPr>
          <p:nvPr/>
        </p:nvCxnSpPr>
        <p:spPr>
          <a:xfrm>
            <a:off x="794005" y="4102608"/>
            <a:ext cx="2319528" cy="0"/>
          </a:xfrm>
          <a:prstGeom prst="line">
            <a:avLst/>
          </a:prstGeom>
          <a:ln w="3175">
            <a:solidFill>
              <a:srgbClr val="4EAB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5E8D42D-9259-BD65-E5D5-29AD22919284}"/>
              </a:ext>
            </a:extLst>
          </p:cNvPr>
          <p:cNvCxnSpPr>
            <a:cxnSpLocks/>
          </p:cNvCxnSpPr>
          <p:nvPr/>
        </p:nvCxnSpPr>
        <p:spPr>
          <a:xfrm>
            <a:off x="794005" y="4799076"/>
            <a:ext cx="2319528" cy="0"/>
          </a:xfrm>
          <a:prstGeom prst="line">
            <a:avLst/>
          </a:prstGeom>
          <a:ln w="3175">
            <a:solidFill>
              <a:srgbClr val="4EAB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F56FC16-635A-3E93-8EE9-4E6EBB464DEF}"/>
              </a:ext>
            </a:extLst>
          </p:cNvPr>
          <p:cNvCxnSpPr>
            <a:cxnSpLocks/>
          </p:cNvCxnSpPr>
          <p:nvPr/>
        </p:nvCxnSpPr>
        <p:spPr>
          <a:xfrm>
            <a:off x="9034272" y="4108704"/>
            <a:ext cx="2319528" cy="0"/>
          </a:xfrm>
          <a:prstGeom prst="line">
            <a:avLst/>
          </a:prstGeom>
          <a:ln w="3175">
            <a:solidFill>
              <a:srgbClr val="4EAB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167C274-87C4-268D-94DB-B45E20E25548}"/>
              </a:ext>
            </a:extLst>
          </p:cNvPr>
          <p:cNvCxnSpPr>
            <a:cxnSpLocks/>
          </p:cNvCxnSpPr>
          <p:nvPr/>
        </p:nvCxnSpPr>
        <p:spPr>
          <a:xfrm>
            <a:off x="9034272" y="4805172"/>
            <a:ext cx="2319528" cy="0"/>
          </a:xfrm>
          <a:prstGeom prst="line">
            <a:avLst/>
          </a:prstGeom>
          <a:ln w="3175">
            <a:solidFill>
              <a:srgbClr val="4EAB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DE973165-866C-22D1-C4DA-62E99C824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69"/>
          <a:stretch/>
        </p:blipFill>
        <p:spPr>
          <a:xfrm>
            <a:off x="1054174" y="596434"/>
            <a:ext cx="2127139" cy="266537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00A53C-CF6D-0000-BBE7-6B7E21A8E3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576" y="576770"/>
            <a:ext cx="1955707" cy="260610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C408B1F-5762-2B1F-E316-56DABDA9214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23" y="950556"/>
            <a:ext cx="1730040" cy="23053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C81ADA-1E7A-47C1-5CCE-B7BB16CA92A2}"/>
              </a:ext>
            </a:extLst>
          </p:cNvPr>
          <p:cNvSpPr/>
          <p:nvPr/>
        </p:nvSpPr>
        <p:spPr>
          <a:xfrm>
            <a:off x="3538088" y="3258312"/>
            <a:ext cx="2432304" cy="8138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Shah </a:t>
            </a:r>
            <a:r>
              <a:rPr lang="en-US" dirty="0">
                <a:solidFill>
                  <a:srgbClr val="4EABCC"/>
                </a:solidFill>
                <a:latin typeface="Arial Narrow" panose="020B0606020202030204" pitchFamily="34" charset="0"/>
              </a:rPr>
              <a:t>Mrunal</a:t>
            </a:r>
            <a:r>
              <a:rPr lang="en-US" dirty="0">
                <a:latin typeface="Arial Narrow" panose="020B0606020202030204" pitchFamily="34" charset="0"/>
              </a:rPr>
              <a:t> Nirajkumar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D7075A-B365-C2ED-EFC7-6E3A97EE6BD1}"/>
              </a:ext>
            </a:extLst>
          </p:cNvPr>
          <p:cNvSpPr/>
          <p:nvPr/>
        </p:nvSpPr>
        <p:spPr>
          <a:xfrm>
            <a:off x="3538088" y="4223004"/>
            <a:ext cx="2432304" cy="4023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202202626010043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67B8AB-6CFD-F368-8ED2-D0F5F80A94F5}"/>
              </a:ext>
            </a:extLst>
          </p:cNvPr>
          <p:cNvSpPr/>
          <p:nvPr/>
        </p:nvSpPr>
        <p:spPr>
          <a:xfrm>
            <a:off x="3538087" y="4776216"/>
            <a:ext cx="2520691" cy="4023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ptos" panose="020B0004020202020204" pitchFamily="34" charset="0"/>
                <a:cs typeface="Courier New" panose="02070309020205020404" pitchFamily="49" charset="0"/>
              </a:rPr>
              <a:t>mrunalnshah2883@gmail.com</a:t>
            </a:r>
            <a:endParaRPr lang="en-IN" sz="1200" dirty="0">
              <a:latin typeface="Aptos" panose="020B0004020202020204" pitchFamily="34" charset="0"/>
              <a:cs typeface="Courier New" panose="020703090202050204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2F05B3-64F4-B16D-F41C-A7CEBDED3662}"/>
              </a:ext>
            </a:extLst>
          </p:cNvPr>
          <p:cNvCxnSpPr>
            <a:cxnSpLocks/>
          </p:cNvCxnSpPr>
          <p:nvPr/>
        </p:nvCxnSpPr>
        <p:spPr>
          <a:xfrm>
            <a:off x="3650864" y="4072128"/>
            <a:ext cx="2319528" cy="0"/>
          </a:xfrm>
          <a:prstGeom prst="line">
            <a:avLst/>
          </a:prstGeom>
          <a:ln w="3175">
            <a:solidFill>
              <a:srgbClr val="4EAB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2D84DE9-0B61-8764-CB8B-BC7E08CDEDE5}"/>
              </a:ext>
            </a:extLst>
          </p:cNvPr>
          <p:cNvCxnSpPr>
            <a:cxnSpLocks/>
          </p:cNvCxnSpPr>
          <p:nvPr/>
        </p:nvCxnSpPr>
        <p:spPr>
          <a:xfrm>
            <a:off x="3650864" y="4768596"/>
            <a:ext cx="2319528" cy="0"/>
          </a:xfrm>
          <a:prstGeom prst="line">
            <a:avLst/>
          </a:prstGeom>
          <a:ln w="3175">
            <a:solidFill>
              <a:srgbClr val="4EAB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6E45A6FA-A584-EA0C-FE2C-E5CA93A47A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529" y="704530"/>
            <a:ext cx="1874852" cy="249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735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A8A9C-DBCB-7972-7CC4-73D646C9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4EABCC"/>
                </a:solidFill>
              </a:rPr>
              <a:t>Outline</a:t>
            </a:r>
            <a:endParaRPr lang="en-IN" b="1" dirty="0">
              <a:solidFill>
                <a:srgbClr val="4EABC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61F52-D984-B502-9780-77FF4DA10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677"/>
            <a:ext cx="10515600" cy="5067198"/>
          </a:xfrm>
        </p:spPr>
        <p:txBody>
          <a:bodyPr>
            <a:normAutofit/>
          </a:bodyPr>
          <a:lstStyle/>
          <a:p>
            <a:r>
              <a:rPr lang="en-IN" dirty="0"/>
              <a:t>Bigger Problem?</a:t>
            </a:r>
          </a:p>
          <a:p>
            <a:r>
              <a:rPr lang="en-IN" dirty="0"/>
              <a:t>Problem Statement.</a:t>
            </a:r>
          </a:p>
          <a:p>
            <a:r>
              <a:rPr lang="en-IN" dirty="0"/>
              <a:t>Study of Similar Applications.</a:t>
            </a:r>
          </a:p>
          <a:p>
            <a:r>
              <a:rPr lang="en-IN" dirty="0"/>
              <a:t>Requirement Gathering.</a:t>
            </a:r>
          </a:p>
          <a:p>
            <a:r>
              <a:rPr lang="en-US" dirty="0"/>
              <a:t>Execution Plan!</a:t>
            </a:r>
          </a:p>
          <a:p>
            <a:r>
              <a:rPr lang="en-US" dirty="0"/>
              <a:t>Graphical Design &amp; User Interface!</a:t>
            </a:r>
          </a:p>
          <a:p>
            <a:r>
              <a:rPr lang="en-US" dirty="0"/>
              <a:t>Technology Stack: Tools &amp; Frameworks</a:t>
            </a:r>
          </a:p>
          <a:p>
            <a:r>
              <a:rPr lang="en-US" dirty="0"/>
              <a:t>Project Timeline.</a:t>
            </a:r>
          </a:p>
          <a:p>
            <a:r>
              <a:rPr lang="en-IN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762970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74434-C960-43C3-78A6-4060872C8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4EABCC"/>
                </a:solidFill>
              </a:rPr>
              <a:t>Bigger</a:t>
            </a:r>
            <a:r>
              <a:rPr lang="en-US" dirty="0"/>
              <a:t> Problem 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2687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Man with solid fill">
            <a:extLst>
              <a:ext uri="{FF2B5EF4-FFF2-40B4-BE49-F238E27FC236}">
                <a16:creationId xmlns:a16="http://schemas.microsoft.com/office/drawing/2014/main" id="{7BE885A7-DC97-5D4C-EC8D-86C831771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0193" y="2350008"/>
            <a:ext cx="914400" cy="914400"/>
          </a:xfrm>
          <a:prstGeom prst="rect">
            <a:avLst/>
          </a:prstGeom>
        </p:spPr>
      </p:pic>
      <p:pic>
        <p:nvPicPr>
          <p:cNvPr id="7" name="Graphic 6" descr="Woman with solid fill">
            <a:extLst>
              <a:ext uri="{FF2B5EF4-FFF2-40B4-BE49-F238E27FC236}">
                <a16:creationId xmlns:a16="http://schemas.microsoft.com/office/drawing/2014/main" id="{A0231EEC-7305-34D7-82D0-838876FBBB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5297" y="2350008"/>
            <a:ext cx="914400" cy="914400"/>
          </a:xfrm>
          <a:prstGeom prst="rect">
            <a:avLst/>
          </a:prstGeom>
        </p:spPr>
      </p:pic>
      <p:pic>
        <p:nvPicPr>
          <p:cNvPr id="8" name="Graphic 7" descr="Man with solid fill">
            <a:extLst>
              <a:ext uri="{FF2B5EF4-FFF2-40B4-BE49-F238E27FC236}">
                <a16:creationId xmlns:a16="http://schemas.microsoft.com/office/drawing/2014/main" id="{83907E2D-D37E-DEA9-55DA-8407F5387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2613" y="2350008"/>
            <a:ext cx="914400" cy="914400"/>
          </a:xfrm>
          <a:prstGeom prst="rect">
            <a:avLst/>
          </a:prstGeom>
        </p:spPr>
      </p:pic>
      <p:pic>
        <p:nvPicPr>
          <p:cNvPr id="9" name="Graphic 8" descr="Woman with solid fill">
            <a:extLst>
              <a:ext uri="{FF2B5EF4-FFF2-40B4-BE49-F238E27FC236}">
                <a16:creationId xmlns:a16="http://schemas.microsoft.com/office/drawing/2014/main" id="{C31FC975-473B-818A-0F79-06718D7C05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9929" y="2350008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EC67CD-359C-C8F2-0AF2-362AD02B5533}"/>
              </a:ext>
            </a:extLst>
          </p:cNvPr>
          <p:cNvSpPr txBox="1"/>
          <p:nvPr/>
        </p:nvSpPr>
        <p:spPr>
          <a:xfrm>
            <a:off x="2898931" y="3374136"/>
            <a:ext cx="6394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1 in 4 People Feel Lonely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126052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981D01B7-94CB-CBF7-7C8B-9E655D4C50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3287700"/>
              </p:ext>
            </p:extLst>
          </p:nvPr>
        </p:nvGraphicFramePr>
        <p:xfrm>
          <a:off x="3180080" y="518499"/>
          <a:ext cx="5831840" cy="3477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6D60EB0-9802-D354-4EA1-3721E431CA67}"/>
              </a:ext>
            </a:extLst>
          </p:cNvPr>
          <p:cNvSpPr txBox="1"/>
          <p:nvPr/>
        </p:nvSpPr>
        <p:spPr>
          <a:xfrm>
            <a:off x="2770632" y="3995928"/>
            <a:ext cx="7269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20 % – 40 % People are Introverts.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219125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CFF80E2-D00E-46FA-AB29-0ECDB321831E}"/>
              </a:ext>
            </a:extLst>
          </p:cNvPr>
          <p:cNvSpPr txBox="1"/>
          <p:nvPr/>
        </p:nvSpPr>
        <p:spPr>
          <a:xfrm>
            <a:off x="901527" y="971936"/>
            <a:ext cx="83772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Fewer People can </a:t>
            </a:r>
            <a:r>
              <a:rPr lang="en-US" sz="4000" dirty="0">
                <a:solidFill>
                  <a:srgbClr val="4EABCC"/>
                </a:solidFill>
              </a:rPr>
              <a:t>express</a:t>
            </a:r>
            <a:r>
              <a:rPr lang="en-US" sz="4000" dirty="0"/>
              <a:t> themselves</a:t>
            </a:r>
            <a:endParaRPr lang="en-IN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58B245-2786-998D-17B7-F93C9542A5C7}"/>
              </a:ext>
            </a:extLst>
          </p:cNvPr>
          <p:cNvSpPr txBox="1"/>
          <p:nvPr/>
        </p:nvSpPr>
        <p:spPr>
          <a:xfrm>
            <a:off x="3470991" y="4208914"/>
            <a:ext cx="83772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Less people have </a:t>
            </a:r>
            <a:r>
              <a:rPr lang="en-US" sz="4000" dirty="0">
                <a:solidFill>
                  <a:srgbClr val="4EABCC"/>
                </a:solidFill>
              </a:rPr>
              <a:t>clarity of thoughts</a:t>
            </a:r>
            <a:r>
              <a:rPr lang="en-US" sz="4000" dirty="0"/>
              <a:t>.</a:t>
            </a:r>
            <a:endParaRPr lang="en-IN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4D7EB9-F2E4-8F6D-68DF-71EAE03D282C}"/>
              </a:ext>
            </a:extLst>
          </p:cNvPr>
          <p:cNvSpPr txBox="1"/>
          <p:nvPr/>
        </p:nvSpPr>
        <p:spPr>
          <a:xfrm>
            <a:off x="5669278" y="2590425"/>
            <a:ext cx="9814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and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00113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61AEC5-9113-8E1D-7ABA-C80B88B927E6}"/>
              </a:ext>
            </a:extLst>
          </p:cNvPr>
          <p:cNvSpPr txBox="1"/>
          <p:nvPr/>
        </p:nvSpPr>
        <p:spPr>
          <a:xfrm>
            <a:off x="1907366" y="448589"/>
            <a:ext cx="838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It </a:t>
            </a:r>
            <a:r>
              <a:rPr lang="en-US" sz="4000" dirty="0">
                <a:solidFill>
                  <a:srgbClr val="4EABCC"/>
                </a:solidFill>
              </a:rPr>
              <a:t>impacts</a:t>
            </a:r>
            <a:r>
              <a:rPr lang="en-US" sz="4000" dirty="0"/>
              <a:t> all of us.</a:t>
            </a:r>
            <a:endParaRPr lang="en-IN" sz="4000" dirty="0"/>
          </a:p>
        </p:txBody>
      </p:sp>
      <p:pic>
        <p:nvPicPr>
          <p:cNvPr id="4" name="Graphic 3" descr="Group of people with solid fill">
            <a:extLst>
              <a:ext uri="{FF2B5EF4-FFF2-40B4-BE49-F238E27FC236}">
                <a16:creationId xmlns:a16="http://schemas.microsoft.com/office/drawing/2014/main" id="{528DB1E2-9A99-6100-4EF4-BE3CB8219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8650" y="1656854"/>
            <a:ext cx="1494967" cy="1494967"/>
          </a:xfrm>
          <a:prstGeom prst="rect">
            <a:avLst/>
          </a:prstGeom>
        </p:spPr>
      </p:pic>
      <p:pic>
        <p:nvPicPr>
          <p:cNvPr id="6" name="Graphic 5" descr="Walk with solid fill">
            <a:extLst>
              <a:ext uri="{FF2B5EF4-FFF2-40B4-BE49-F238E27FC236}">
                <a16:creationId xmlns:a16="http://schemas.microsoft.com/office/drawing/2014/main" id="{D727AF6C-C991-373A-F72D-3FA77BAD06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0167" y="1873883"/>
            <a:ext cx="914400" cy="914400"/>
          </a:xfrm>
          <a:prstGeom prst="rect">
            <a:avLst/>
          </a:prstGeom>
        </p:spPr>
      </p:pic>
      <p:pic>
        <p:nvPicPr>
          <p:cNvPr id="8" name="Graphic 7" descr="Group of women with solid fill">
            <a:extLst>
              <a:ext uri="{FF2B5EF4-FFF2-40B4-BE49-F238E27FC236}">
                <a16:creationId xmlns:a16="http://schemas.microsoft.com/office/drawing/2014/main" id="{F8DF93BF-6D6D-BDFF-89F8-B49987B22E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05107" y="1878747"/>
            <a:ext cx="914400" cy="914400"/>
          </a:xfrm>
          <a:prstGeom prst="rect">
            <a:avLst/>
          </a:prstGeom>
        </p:spPr>
      </p:pic>
      <p:pic>
        <p:nvPicPr>
          <p:cNvPr id="10" name="Graphic 9" descr="Man and woman with solid fill">
            <a:extLst>
              <a:ext uri="{FF2B5EF4-FFF2-40B4-BE49-F238E27FC236}">
                <a16:creationId xmlns:a16="http://schemas.microsoft.com/office/drawing/2014/main" id="{F2029824-CC38-DDDB-F791-5D93A4DEBF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60130" y="3793009"/>
            <a:ext cx="914400" cy="914400"/>
          </a:xfrm>
          <a:prstGeom prst="rect">
            <a:avLst/>
          </a:prstGeom>
        </p:spPr>
      </p:pic>
      <p:pic>
        <p:nvPicPr>
          <p:cNvPr id="12" name="Graphic 11" descr="Children with solid fill">
            <a:extLst>
              <a:ext uri="{FF2B5EF4-FFF2-40B4-BE49-F238E27FC236}">
                <a16:creationId xmlns:a16="http://schemas.microsoft.com/office/drawing/2014/main" id="{4C5FCD1F-27B5-DBA0-0A09-5BBD9A9D294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68394" y="3612511"/>
            <a:ext cx="1055209" cy="1055209"/>
          </a:xfrm>
          <a:prstGeom prst="rect">
            <a:avLst/>
          </a:prstGeom>
        </p:spPr>
      </p:pic>
      <p:pic>
        <p:nvPicPr>
          <p:cNvPr id="14" name="Graphic 13" descr="Europe with solid fill">
            <a:extLst>
              <a:ext uri="{FF2B5EF4-FFF2-40B4-BE49-F238E27FC236}">
                <a16:creationId xmlns:a16="http://schemas.microsoft.com/office/drawing/2014/main" id="{53F96A83-FED3-C77D-1541-CCC8C5A715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56930" y="3018681"/>
            <a:ext cx="2907150" cy="290715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14EFA9-64DA-6FF9-579B-BDDD683C28CA}"/>
              </a:ext>
            </a:extLst>
          </p:cNvPr>
          <p:cNvCxnSpPr/>
          <p:nvPr/>
        </p:nvCxnSpPr>
        <p:spPr>
          <a:xfrm>
            <a:off x="2335964" y="2335947"/>
            <a:ext cx="581366" cy="1457062"/>
          </a:xfrm>
          <a:prstGeom prst="straightConnector1">
            <a:avLst/>
          </a:prstGeom>
          <a:ln w="28575">
            <a:solidFill>
              <a:srgbClr val="4EAB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7403BA-FB80-964A-9A80-C4EF6B1353B9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2939439" y="2335947"/>
            <a:ext cx="1265668" cy="1457062"/>
          </a:xfrm>
          <a:prstGeom prst="straightConnector1">
            <a:avLst/>
          </a:prstGeom>
          <a:ln w="28575">
            <a:solidFill>
              <a:srgbClr val="4EAB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DFC4C57-88FB-36CA-4D06-04D9AD416A40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119507" y="2335947"/>
            <a:ext cx="954743" cy="1276564"/>
          </a:xfrm>
          <a:prstGeom prst="straightConnector1">
            <a:avLst/>
          </a:prstGeom>
          <a:ln w="28575">
            <a:solidFill>
              <a:srgbClr val="4EAB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F3D467E-DA31-6A1A-FA6B-FB6D1957706F}"/>
              </a:ext>
            </a:extLst>
          </p:cNvPr>
          <p:cNvCxnSpPr>
            <a:cxnSpLocks/>
          </p:cNvCxnSpPr>
          <p:nvPr/>
        </p:nvCxnSpPr>
        <p:spPr>
          <a:xfrm flipV="1">
            <a:off x="6095998" y="2404337"/>
            <a:ext cx="892652" cy="1208174"/>
          </a:xfrm>
          <a:prstGeom prst="straightConnector1">
            <a:avLst/>
          </a:prstGeom>
          <a:ln w="28575">
            <a:solidFill>
              <a:srgbClr val="4EAB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0EC0321-290D-788D-AAC4-C1B828089828}"/>
              </a:ext>
            </a:extLst>
          </p:cNvPr>
          <p:cNvCxnSpPr>
            <a:cxnSpLocks/>
          </p:cNvCxnSpPr>
          <p:nvPr/>
        </p:nvCxnSpPr>
        <p:spPr>
          <a:xfrm>
            <a:off x="8341123" y="2404337"/>
            <a:ext cx="976134" cy="1537831"/>
          </a:xfrm>
          <a:prstGeom prst="straightConnector1">
            <a:avLst/>
          </a:prstGeom>
          <a:ln w="28575">
            <a:solidFill>
              <a:srgbClr val="4EAB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938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ED06-EFAD-357D-9772-E79027F57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4EABCC"/>
                </a:solidFill>
              </a:rPr>
              <a:t>Problem Statement </a:t>
            </a:r>
            <a:endParaRPr lang="en-IN" b="1" dirty="0">
              <a:solidFill>
                <a:srgbClr val="4EABC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D477E-CB1C-459B-09D3-265CF2F92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buClr>
                <a:srgbClr val="4EABCC"/>
              </a:buClr>
            </a:pPr>
            <a:r>
              <a:rPr lang="en-US" dirty="0"/>
              <a:t>The number of people are suffering due to not being able to express their thought, </a:t>
            </a:r>
            <a:r>
              <a:rPr lang="en-US" dirty="0">
                <a:solidFill>
                  <a:srgbClr val="4EABCC"/>
                </a:solidFill>
              </a:rPr>
              <a:t>diving deeper into their loneliness </a:t>
            </a:r>
            <a:r>
              <a:rPr lang="en-US" dirty="0"/>
              <a:t>and eventually yielding to </a:t>
            </a:r>
            <a:r>
              <a:rPr lang="en-US" dirty="0">
                <a:solidFill>
                  <a:srgbClr val="4EABCC"/>
                </a:solidFill>
              </a:rPr>
              <a:t>mental illnesses</a:t>
            </a:r>
            <a:r>
              <a:rPr lang="en-US" dirty="0"/>
              <a:t>.</a:t>
            </a:r>
            <a:r>
              <a:rPr lang="en-US" dirty="0">
                <a:solidFill>
                  <a:srgbClr val="4EABCC"/>
                </a:solidFill>
              </a:rPr>
              <a:t> </a:t>
            </a:r>
          </a:p>
          <a:p>
            <a:pPr>
              <a:buClr>
                <a:srgbClr val="4EABCC"/>
              </a:buClr>
            </a:pPr>
            <a:endParaRPr lang="en-US" dirty="0"/>
          </a:p>
          <a:p>
            <a:pPr>
              <a:buClr>
                <a:srgbClr val="4EABCC"/>
              </a:buClr>
            </a:pPr>
            <a:r>
              <a:rPr lang="en-IN" dirty="0"/>
              <a:t>Less people </a:t>
            </a:r>
            <a:r>
              <a:rPr lang="en-IN" dirty="0">
                <a:solidFill>
                  <a:srgbClr val="4EABCC"/>
                </a:solidFill>
              </a:rPr>
              <a:t>introspect</a:t>
            </a:r>
            <a:r>
              <a:rPr lang="en-IN" dirty="0"/>
              <a:t> themselves</a:t>
            </a:r>
          </a:p>
          <a:p>
            <a:pPr>
              <a:buClr>
                <a:srgbClr val="4EABCC"/>
              </a:buClr>
            </a:pPr>
            <a:endParaRPr lang="en-IN" dirty="0"/>
          </a:p>
          <a:p>
            <a:pPr>
              <a:buClr>
                <a:srgbClr val="4EABCC"/>
              </a:buClr>
            </a:pPr>
            <a:r>
              <a:rPr lang="en-US" dirty="0"/>
              <a:t>The need to make things </a:t>
            </a:r>
            <a:r>
              <a:rPr lang="en-US" dirty="0">
                <a:solidFill>
                  <a:srgbClr val="4EABCC"/>
                </a:solidFill>
              </a:rPr>
              <a:t>digital</a:t>
            </a:r>
            <a:r>
              <a:rPr lang="en-US" dirty="0"/>
              <a:t> in this world which revolves around </a:t>
            </a:r>
            <a:r>
              <a:rPr lang="en-US" dirty="0">
                <a:solidFill>
                  <a:srgbClr val="4EABCC"/>
                </a:solidFill>
              </a:rPr>
              <a:t>modernity</a:t>
            </a:r>
            <a:r>
              <a:rPr lang="en-US" dirty="0"/>
              <a:t>, privacy, </a:t>
            </a:r>
            <a:r>
              <a:rPr lang="en-US" dirty="0">
                <a:solidFill>
                  <a:srgbClr val="4EABCC"/>
                </a:solidFill>
              </a:rPr>
              <a:t>availability</a:t>
            </a:r>
            <a:r>
              <a:rPr lang="en-US" dirty="0"/>
              <a:t>, ease, </a:t>
            </a:r>
            <a:r>
              <a:rPr lang="en-US" dirty="0">
                <a:solidFill>
                  <a:srgbClr val="4EABCC"/>
                </a:solidFill>
              </a:rPr>
              <a:t>convenience</a:t>
            </a:r>
            <a:r>
              <a:rPr lang="en-US" dirty="0"/>
              <a:t>, and free usage. </a:t>
            </a:r>
          </a:p>
          <a:p>
            <a:pPr>
              <a:buClr>
                <a:srgbClr val="4EABCC"/>
              </a:buClr>
            </a:pPr>
            <a:endParaRPr lang="en-US" dirty="0"/>
          </a:p>
          <a:p>
            <a:pPr>
              <a:buClr>
                <a:srgbClr val="4EABCC"/>
              </a:buClr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0330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40EB5-2090-DFDF-C63C-6B7914F6D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sz="4000" dirty="0">
                <a:latin typeface="+mn-lt"/>
                <a:ea typeface="+mn-ea"/>
                <a:cs typeface="+mn-cs"/>
              </a:rPr>
              <a:t>no </a:t>
            </a:r>
            <a:r>
              <a:rPr lang="en-US" sz="4000" dirty="0">
                <a:solidFill>
                  <a:srgbClr val="4EABCC"/>
                </a:solidFill>
                <a:latin typeface="+mn-lt"/>
                <a:ea typeface="+mn-ea"/>
                <a:cs typeface="+mn-cs"/>
              </a:rPr>
              <a:t>one</a:t>
            </a:r>
            <a:r>
              <a:rPr lang="en-US" sz="4000" dirty="0">
                <a:latin typeface="+mn-lt"/>
                <a:ea typeface="+mn-ea"/>
                <a:cs typeface="+mn-cs"/>
              </a:rPr>
              <a:t> solution!</a:t>
            </a:r>
            <a:endParaRPr lang="en-IN" sz="40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2202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1671C-9EAC-D641-8D7F-601748E71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08405"/>
            <a:ext cx="9144000" cy="1141667"/>
          </a:xfrm>
        </p:spPr>
        <p:txBody>
          <a:bodyPr/>
          <a:lstStyle/>
          <a:p>
            <a:r>
              <a:rPr lang="en-US" spc="300" dirty="0"/>
              <a:t>Our</a:t>
            </a:r>
            <a:r>
              <a:rPr lang="en-US" spc="300" dirty="0">
                <a:solidFill>
                  <a:srgbClr val="4EABCC"/>
                </a:solidFill>
              </a:rPr>
              <a:t> proposed</a:t>
            </a:r>
            <a:r>
              <a:rPr lang="en-US" spc="300" dirty="0"/>
              <a:t> solution!</a:t>
            </a:r>
            <a:endParaRPr lang="en-IN" spc="3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2A93AB-C4F6-D114-7D13-75D754F45DE9}"/>
              </a:ext>
            </a:extLst>
          </p:cNvPr>
          <p:cNvSpPr txBox="1"/>
          <p:nvPr/>
        </p:nvSpPr>
        <p:spPr>
          <a:xfrm>
            <a:off x="1907366" y="2721114"/>
            <a:ext cx="83772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4EABCC"/>
                </a:solidFill>
              </a:rPr>
              <a:t>Chronicles</a:t>
            </a:r>
            <a:r>
              <a:rPr lang="en-US" sz="4000" dirty="0"/>
              <a:t> </a:t>
            </a:r>
            <a:r>
              <a:rPr lang="en-US" sz="4000" dirty="0">
                <a:solidFill>
                  <a:srgbClr val="4EABCC"/>
                </a:solidFill>
              </a:rPr>
              <a:t>– Write Your Journey</a:t>
            </a:r>
            <a:endParaRPr lang="en-IN" sz="4000" dirty="0">
              <a:solidFill>
                <a:srgbClr val="4EABCC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50A11A-3B74-963B-9015-58B85631B46A}"/>
              </a:ext>
            </a:extLst>
          </p:cNvPr>
          <p:cNvSpPr txBox="1"/>
          <p:nvPr/>
        </p:nvSpPr>
        <p:spPr>
          <a:xfrm>
            <a:off x="1907366" y="3429000"/>
            <a:ext cx="8377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cross-platform app which lets an individual write their daily dairy digitally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194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An open book">
            <a:extLst>
              <a:ext uri="{FF2B5EF4-FFF2-40B4-BE49-F238E27FC236}">
                <a16:creationId xmlns:a16="http://schemas.microsoft.com/office/drawing/2014/main" id="{0F37C0B5-3CAD-C80D-F7BB-85CC4986C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025" y="98464"/>
            <a:ext cx="2159541" cy="2159541"/>
          </a:xfrm>
          <a:prstGeom prst="rect">
            <a:avLst/>
          </a:prstGeom>
        </p:spPr>
      </p:pic>
      <p:pic>
        <p:nvPicPr>
          <p:cNvPr id="5" name="Graphic 4" descr="Pencil with solid fill">
            <a:extLst>
              <a:ext uri="{FF2B5EF4-FFF2-40B4-BE49-F238E27FC236}">
                <a16:creationId xmlns:a16="http://schemas.microsoft.com/office/drawing/2014/main" id="{A5B60FAD-2714-A97F-6628-739A50C291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78766" y="422979"/>
            <a:ext cx="514788" cy="514788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EFD2F0EF-05B4-672E-63A8-38192C95A2AC}"/>
              </a:ext>
            </a:extLst>
          </p:cNvPr>
          <p:cNvSpPr txBox="1"/>
          <p:nvPr/>
        </p:nvSpPr>
        <p:spPr>
          <a:xfrm>
            <a:off x="2707566" y="818002"/>
            <a:ext cx="62729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Maintaining a physical diary </a:t>
            </a:r>
            <a:endParaRPr lang="en-IN" sz="40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6F42801-29B8-0470-FD09-15BDB1B630EC}"/>
              </a:ext>
            </a:extLst>
          </p:cNvPr>
          <p:cNvSpPr txBox="1"/>
          <p:nvPr/>
        </p:nvSpPr>
        <p:spPr>
          <a:xfrm>
            <a:off x="1096050" y="2557046"/>
            <a:ext cx="7789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4EABCC"/>
                </a:solidFill>
              </a:rPr>
              <a:t>Challenge</a:t>
            </a:r>
            <a:r>
              <a:rPr lang="en-US" sz="4000" dirty="0"/>
              <a:t> to maintain the diary</a:t>
            </a:r>
            <a:endParaRPr lang="en-IN" sz="4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D4938DD-A609-624A-6E10-16CD5E0A62D3}"/>
              </a:ext>
            </a:extLst>
          </p:cNvPr>
          <p:cNvSpPr txBox="1"/>
          <p:nvPr/>
        </p:nvSpPr>
        <p:spPr>
          <a:xfrm>
            <a:off x="1096050" y="3430328"/>
            <a:ext cx="54756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4EABCC"/>
                </a:solidFill>
              </a:rPr>
              <a:t>Privacy</a:t>
            </a:r>
            <a:r>
              <a:rPr lang="en-US" sz="4000" dirty="0"/>
              <a:t> is not guaranteed</a:t>
            </a:r>
            <a:endParaRPr lang="en-IN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E46079-7FB5-E7CF-EEC3-3430C10C33C5}"/>
              </a:ext>
            </a:extLst>
          </p:cNvPr>
          <p:cNvSpPr txBox="1"/>
          <p:nvPr/>
        </p:nvSpPr>
        <p:spPr>
          <a:xfrm>
            <a:off x="1096049" y="4229469"/>
            <a:ext cx="83772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Big generation </a:t>
            </a:r>
            <a:r>
              <a:rPr lang="en-US" sz="4000" dirty="0">
                <a:solidFill>
                  <a:srgbClr val="4EABCC"/>
                </a:solidFill>
              </a:rPr>
              <a:t>change</a:t>
            </a:r>
            <a:r>
              <a:rPr lang="en-US" sz="4000" dirty="0"/>
              <a:t> happening.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599913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ED06-EFAD-357D-9772-E79027F57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4EABCC"/>
                </a:solidFill>
              </a:rPr>
              <a:t>Aim </a:t>
            </a:r>
            <a:endParaRPr lang="en-IN" b="1" dirty="0">
              <a:solidFill>
                <a:srgbClr val="4EABC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D477E-CB1C-459B-09D3-265CF2F92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Involve more individual into </a:t>
            </a:r>
            <a:r>
              <a:rPr lang="en-US" kern="100" dirty="0">
                <a:solidFill>
                  <a:srgbClr val="4EABC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daily dairies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Helping individual become more </a:t>
            </a:r>
            <a:r>
              <a:rPr lang="en-US" kern="100" dirty="0">
                <a:solidFill>
                  <a:srgbClr val="4EABC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happy, thoughtful and stress-free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Helping more and more individual </a:t>
            </a:r>
            <a:r>
              <a:rPr lang="en-US" kern="100" dirty="0">
                <a:solidFill>
                  <a:srgbClr val="4EABC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introspect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themselves.</a:t>
            </a:r>
          </a:p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Helping individual get </a:t>
            </a:r>
            <a:r>
              <a:rPr lang="en-US" kern="100" dirty="0">
                <a:solidFill>
                  <a:srgbClr val="4EABC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clarity of thoughts</a:t>
            </a:r>
          </a:p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Solving the </a:t>
            </a:r>
            <a:r>
              <a:rPr lang="en-US" kern="100" dirty="0">
                <a:solidFill>
                  <a:srgbClr val="4EABC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bigger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problem.</a:t>
            </a:r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387EB08-EB7F-BA25-D1BC-BCAF480570EA}"/>
              </a:ext>
            </a:extLst>
          </p:cNvPr>
          <p:cNvSpPr txBox="1">
            <a:spLocks/>
          </p:cNvSpPr>
          <p:nvPr/>
        </p:nvSpPr>
        <p:spPr>
          <a:xfrm>
            <a:off x="1397000" y="3261880"/>
            <a:ext cx="1835727" cy="478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4EABCC"/>
              </a:buClr>
              <a:buNone/>
            </a:pP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376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ED06-EFAD-357D-9772-E79027F57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4EABCC"/>
                </a:solidFill>
              </a:rPr>
              <a:t>Features</a:t>
            </a:r>
            <a:r>
              <a:rPr lang="en-US" dirty="0">
                <a:solidFill>
                  <a:srgbClr val="4EABCC"/>
                </a:solidFill>
              </a:rPr>
              <a:t> </a:t>
            </a:r>
            <a:endParaRPr lang="en-IN" dirty="0">
              <a:solidFill>
                <a:srgbClr val="4EABC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D477E-CB1C-459B-09D3-265CF2F92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Easy to </a:t>
            </a:r>
            <a:r>
              <a:rPr lang="en-US" kern="100" dirty="0">
                <a:solidFill>
                  <a:srgbClr val="4EABC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diaries</a:t>
            </a:r>
            <a:endParaRPr lang="en-IN" kern="100" dirty="0">
              <a:solidFill>
                <a:srgbClr val="4EABC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Todo list</a:t>
            </a:r>
          </a:p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r>
              <a:rPr lang="en-IN" kern="100">
                <a:solidFill>
                  <a:srgbClr val="4EABC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kern="100">
                <a:solidFill>
                  <a:srgbClr val="4EABC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Speech </a:t>
            </a:r>
            <a:r>
              <a:rPr lang="en-US" kern="100" dirty="0">
                <a:solidFill>
                  <a:srgbClr val="4EABC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Text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Text to Speech</a:t>
            </a:r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Timely Reminders</a:t>
            </a:r>
          </a:p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kern="100" dirty="0">
                <a:solidFill>
                  <a:srgbClr val="4EABC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 Summarization</a:t>
            </a:r>
            <a:endParaRPr lang="en-IN" kern="100" dirty="0">
              <a:solidFill>
                <a:srgbClr val="4EABCC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r>
              <a:rPr lang="en-IN" kern="100" dirty="0">
                <a:solidFill>
                  <a:srgbClr val="4EABC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Conversion</a:t>
            </a:r>
            <a:r>
              <a:rPr lang="en-IN" kern="100" dirty="0">
                <a:solidFill>
                  <a:srgbClr val="4EABC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IN" kern="100" dirty="0">
                <a:solidFill>
                  <a:srgbClr val="4EABC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digital diaries to pdf</a:t>
            </a: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and/or </a:t>
            </a:r>
            <a:r>
              <a:rPr lang="en-IN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epub</a:t>
            </a:r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Progress Tracker ( Streak ) </a:t>
            </a:r>
          </a:p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IN" kern="100" dirty="0">
                <a:solidFill>
                  <a:srgbClr val="4EABC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 Diaries</a:t>
            </a:r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727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ED06-EFAD-357D-9772-E79027F57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4EABCC"/>
                </a:solidFill>
              </a:rPr>
              <a:t>Objectives </a:t>
            </a:r>
            <a:endParaRPr lang="en-IN" b="1" dirty="0">
              <a:solidFill>
                <a:srgbClr val="4EABC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D477E-CB1C-459B-09D3-265CF2F92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User friendly</a:t>
            </a:r>
          </a:p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>
                <a:solidFill>
                  <a:srgbClr val="4EABC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Free</a:t>
            </a: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use </a:t>
            </a:r>
            <a:endParaRPr lang="en-IN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r>
              <a:rPr lang="en-IN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Cross Platform ( Android, IOS)</a:t>
            </a:r>
          </a:p>
          <a:p>
            <a:pPr>
              <a:buClr>
                <a:srgbClr val="4EABCC"/>
              </a:buClr>
              <a:buFont typeface="Wingdings" panose="05000000000000000000" pitchFamily="2" charset="2"/>
              <a:buChar char="Ø"/>
            </a:pPr>
            <a:r>
              <a:rPr lang="en-IN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Secure</a:t>
            </a:r>
          </a:p>
        </p:txBody>
      </p:sp>
    </p:spTree>
    <p:extLst>
      <p:ext uri="{BB962C8B-B14F-4D97-AF65-F5344CB8AC3E}">
        <p14:creationId xmlns:p14="http://schemas.microsoft.com/office/powerpoint/2010/main" val="4101947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1671C-9EAC-D641-8D7F-601748E71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05585"/>
            <a:ext cx="9144000" cy="1141667"/>
          </a:xfrm>
        </p:spPr>
        <p:txBody>
          <a:bodyPr/>
          <a:lstStyle/>
          <a:p>
            <a:r>
              <a:rPr lang="en-US" dirty="0"/>
              <a:t>study of </a:t>
            </a:r>
            <a:r>
              <a:rPr lang="en-US" dirty="0">
                <a:solidFill>
                  <a:srgbClr val="4EABCC"/>
                </a:solidFill>
              </a:rPr>
              <a:t>similar</a:t>
            </a:r>
            <a:r>
              <a:rPr lang="en-US" dirty="0"/>
              <a:t> applications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4299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ED9EA5-9B45-4739-370D-AA7B5F4CF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1745" y="507097"/>
            <a:ext cx="1758569" cy="17585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8E96D1-C192-078B-8E42-E9786D690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982" y="507098"/>
            <a:ext cx="1758569" cy="17585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A8239E-0B7A-186E-2EBF-82CA174C39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981" y="4003066"/>
            <a:ext cx="1758569" cy="17585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1BD901-A1AE-AB73-CE52-2447D8C3B8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1744" y="4003066"/>
            <a:ext cx="1758570" cy="175857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1B500D1-5275-623C-8E41-609784EAEB28}"/>
              </a:ext>
            </a:extLst>
          </p:cNvPr>
          <p:cNvSpPr txBox="1">
            <a:spLocks/>
          </p:cNvSpPr>
          <p:nvPr/>
        </p:nvSpPr>
        <p:spPr>
          <a:xfrm>
            <a:off x="913981" y="5761635"/>
            <a:ext cx="1993810" cy="68488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Notion</a:t>
            </a:r>
            <a:endParaRPr lang="en-IN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501E0DE-0222-BCB3-B5C0-0086DFBE3E56}"/>
              </a:ext>
            </a:extLst>
          </p:cNvPr>
          <p:cNvSpPr txBox="1">
            <a:spLocks/>
          </p:cNvSpPr>
          <p:nvPr/>
        </p:nvSpPr>
        <p:spPr>
          <a:xfrm>
            <a:off x="913980" y="2366163"/>
            <a:ext cx="1993811" cy="68488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Journey</a:t>
            </a:r>
            <a:endParaRPr lang="en-IN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256E64B-56A6-107C-E7B0-A620568AB6C0}"/>
              </a:ext>
            </a:extLst>
          </p:cNvPr>
          <p:cNvSpPr txBox="1">
            <a:spLocks/>
          </p:cNvSpPr>
          <p:nvPr/>
        </p:nvSpPr>
        <p:spPr>
          <a:xfrm>
            <a:off x="9235440" y="2366162"/>
            <a:ext cx="2441384" cy="68488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Evernotes</a:t>
            </a:r>
            <a:endParaRPr lang="en-IN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2108327-1D29-7608-73D5-2A1221C0F682}"/>
              </a:ext>
            </a:extLst>
          </p:cNvPr>
          <p:cNvSpPr txBox="1">
            <a:spLocks/>
          </p:cNvSpPr>
          <p:nvPr/>
        </p:nvSpPr>
        <p:spPr>
          <a:xfrm>
            <a:off x="9235440" y="5761634"/>
            <a:ext cx="2450592" cy="68488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One Day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A575CFE-8B0B-9B2B-BCB2-C0680ABCFD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742" y="2482214"/>
            <a:ext cx="1137666" cy="1137666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0B50F9C-2F05-0B45-0301-3CA2E841099E}"/>
              </a:ext>
            </a:extLst>
          </p:cNvPr>
          <p:cNvSpPr txBox="1">
            <a:spLocks/>
          </p:cNvSpPr>
          <p:nvPr/>
        </p:nvSpPr>
        <p:spPr>
          <a:xfrm>
            <a:off x="4765275" y="3660623"/>
            <a:ext cx="2523744" cy="68488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Chronicles</a:t>
            </a:r>
            <a:endParaRPr lang="en-IN" dirty="0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7C156E9E-E033-DD35-5D48-FC98E9D91365}"/>
              </a:ext>
            </a:extLst>
          </p:cNvPr>
          <p:cNvSpPr/>
          <p:nvPr/>
        </p:nvSpPr>
        <p:spPr>
          <a:xfrm>
            <a:off x="3904595" y="2029968"/>
            <a:ext cx="603504" cy="2724912"/>
          </a:xfrm>
          <a:prstGeom prst="leftBrace">
            <a:avLst/>
          </a:prstGeom>
          <a:ln w="28575">
            <a:solidFill>
              <a:srgbClr val="4EAB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F8D2ADFC-2357-A488-0187-7F229FF8E032}"/>
              </a:ext>
            </a:extLst>
          </p:cNvPr>
          <p:cNvSpPr/>
          <p:nvPr/>
        </p:nvSpPr>
        <p:spPr>
          <a:xfrm flipH="1">
            <a:off x="7683903" y="2029968"/>
            <a:ext cx="603504" cy="2724912"/>
          </a:xfrm>
          <a:prstGeom prst="leftBrace">
            <a:avLst/>
          </a:prstGeom>
          <a:ln w="28575">
            <a:solidFill>
              <a:srgbClr val="4EAB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7905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4">
            <a:extLst>
              <a:ext uri="{FF2B5EF4-FFF2-40B4-BE49-F238E27FC236}">
                <a16:creationId xmlns:a16="http://schemas.microsoft.com/office/drawing/2014/main" id="{74C86C11-519E-304E-BF6F-95B40E863A68}"/>
              </a:ext>
            </a:extLst>
          </p:cNvPr>
          <p:cNvSpPr txBox="1"/>
          <p:nvPr/>
        </p:nvSpPr>
        <p:spPr>
          <a:xfrm>
            <a:off x="1078993" y="0"/>
            <a:ext cx="10128475" cy="950684"/>
          </a:xfrm>
          <a:prstGeom prst="rect">
            <a:avLst/>
          </a:prstGeom>
        </p:spPr>
        <p:txBody>
          <a:bodyPr lIns="6126" tIns="6126" rIns="6126" bIns="6126" rtlCol="0" anchor="ctr"/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4000" strike="noStrike" dirty="0">
                <a:solidFill>
                  <a:srgbClr val="4EABCC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Comparing similar application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C7A00127-39F2-22F3-B14A-C27D954CF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58" y="1068597"/>
            <a:ext cx="10828084" cy="555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27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D2D7E-F803-06E5-AFD7-64F81C1A7FC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13449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4EABCC"/>
                </a:solidFill>
              </a:rPr>
              <a:t>Requirement</a:t>
            </a:r>
            <a:r>
              <a:rPr lang="en-US" dirty="0"/>
              <a:t> Gathering</a:t>
            </a:r>
            <a:endParaRPr lang="en-IN" dirty="0"/>
          </a:p>
        </p:txBody>
      </p:sp>
      <p:pic>
        <p:nvPicPr>
          <p:cNvPr id="4" name="Graphic 3" descr="Laptop with solid fill">
            <a:extLst>
              <a:ext uri="{FF2B5EF4-FFF2-40B4-BE49-F238E27FC236}">
                <a16:creationId xmlns:a16="http://schemas.microsoft.com/office/drawing/2014/main" id="{D71B1F2C-6A75-A16A-27B8-4DF8F56D4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3963" y="1542288"/>
            <a:ext cx="1886712" cy="1886712"/>
          </a:xfrm>
          <a:prstGeom prst="rect">
            <a:avLst/>
          </a:prstGeom>
        </p:spPr>
      </p:pic>
      <p:pic>
        <p:nvPicPr>
          <p:cNvPr id="6" name="Graphic 5" descr="Document with solid fill">
            <a:extLst>
              <a:ext uri="{FF2B5EF4-FFF2-40B4-BE49-F238E27FC236}">
                <a16:creationId xmlns:a16="http://schemas.microsoft.com/office/drawing/2014/main" id="{08057BAF-1969-BF5F-A305-DCD71FB22A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6027" y="2027244"/>
            <a:ext cx="697668" cy="697668"/>
          </a:xfrm>
          <a:prstGeom prst="rect">
            <a:avLst/>
          </a:prstGeom>
        </p:spPr>
      </p:pic>
      <p:pic>
        <p:nvPicPr>
          <p:cNvPr id="8" name="Graphic 7" descr="Pencil with solid fill">
            <a:extLst>
              <a:ext uri="{FF2B5EF4-FFF2-40B4-BE49-F238E27FC236}">
                <a16:creationId xmlns:a16="http://schemas.microsoft.com/office/drawing/2014/main" id="{698C2D8E-303A-0EA5-5D81-077B82286F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2267" y="2010156"/>
            <a:ext cx="475488" cy="47548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4BCB7F-8CA6-62B7-DB36-63A5EB334D6B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6096000" y="1690688"/>
            <a:ext cx="0" cy="49752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Document with solid fill">
            <a:extLst>
              <a:ext uri="{FF2B5EF4-FFF2-40B4-BE49-F238E27FC236}">
                <a16:creationId xmlns:a16="http://schemas.microsoft.com/office/drawing/2014/main" id="{999F950D-2A4A-6F05-60D3-FBF6245BC9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12360" y="2010156"/>
            <a:ext cx="914400" cy="9144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33EF6A5-A590-CB89-12DC-28089A89B6E0}"/>
              </a:ext>
            </a:extLst>
          </p:cNvPr>
          <p:cNvCxnSpPr/>
          <p:nvPr/>
        </p:nvCxnSpPr>
        <p:spPr>
          <a:xfrm>
            <a:off x="8060600" y="2467356"/>
            <a:ext cx="212445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 descr="Closed book with solid fill">
            <a:extLst>
              <a:ext uri="{FF2B5EF4-FFF2-40B4-BE49-F238E27FC236}">
                <a16:creationId xmlns:a16="http://schemas.microsoft.com/office/drawing/2014/main" id="{97A03022-D318-91CF-6C29-51BD2F16A9C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90752" y="2010156"/>
            <a:ext cx="914400" cy="91440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654C8EDD-2905-D35E-6754-E5E0A98AF3B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4EABCC"/>
                </a:solidFill>
              </a:rPr>
              <a:t>Requirement</a:t>
            </a:r>
            <a:r>
              <a:rPr lang="en-US"/>
              <a:t> Gathering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ACB50A-A635-8F3C-C18D-27403537165E}"/>
              </a:ext>
            </a:extLst>
          </p:cNvPr>
          <p:cNvSpPr txBox="1"/>
          <p:nvPr/>
        </p:nvSpPr>
        <p:spPr>
          <a:xfrm>
            <a:off x="400655" y="3345728"/>
            <a:ext cx="5260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Text Editor</a:t>
            </a:r>
            <a:endParaRPr lang="en-IN" b="1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A14D52-48A9-232B-A539-A11324A05B87}"/>
              </a:ext>
            </a:extLst>
          </p:cNvPr>
          <p:cNvSpPr txBox="1"/>
          <p:nvPr/>
        </p:nvSpPr>
        <p:spPr>
          <a:xfrm>
            <a:off x="6420611" y="3345728"/>
            <a:ext cx="5260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Text Summarization</a:t>
            </a:r>
            <a:endParaRPr lang="en-IN" b="1" i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8886B4-922C-5A7A-B353-BFD69E641FFF}"/>
              </a:ext>
            </a:extLst>
          </p:cNvPr>
          <p:cNvSpPr/>
          <p:nvPr/>
        </p:nvSpPr>
        <p:spPr>
          <a:xfrm>
            <a:off x="329184" y="4306824"/>
            <a:ext cx="1490472" cy="10088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Markdown Editors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6F67C2-0F79-07D5-2959-C2F9A90F9D89}"/>
              </a:ext>
            </a:extLst>
          </p:cNvPr>
          <p:cNvSpPr/>
          <p:nvPr/>
        </p:nvSpPr>
        <p:spPr>
          <a:xfrm>
            <a:off x="2139696" y="4289084"/>
            <a:ext cx="1490472" cy="10088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Quill</a:t>
            </a:r>
          </a:p>
          <a:p>
            <a:pPr algn="ctr"/>
            <a:r>
              <a:rPr lang="en-US" dirty="0"/>
              <a:t>[ Flutter Package ]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F648E5-8A0A-55FC-C44E-F8F7D0C2ECBF}"/>
              </a:ext>
            </a:extLst>
          </p:cNvPr>
          <p:cNvSpPr/>
          <p:nvPr/>
        </p:nvSpPr>
        <p:spPr>
          <a:xfrm>
            <a:off x="4099560" y="4289084"/>
            <a:ext cx="1490472" cy="10088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Appflowy</a:t>
            </a:r>
          </a:p>
          <a:p>
            <a:pPr algn="ctr"/>
            <a:r>
              <a:rPr lang="en-US" dirty="0"/>
              <a:t>[ Flutter Package ]</a:t>
            </a:r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1B6E88-086C-4C54-2046-3EB06959302B}"/>
              </a:ext>
            </a:extLst>
          </p:cNvPr>
          <p:cNvSpPr/>
          <p:nvPr/>
        </p:nvSpPr>
        <p:spPr>
          <a:xfrm>
            <a:off x="329183" y="5657088"/>
            <a:ext cx="5260845" cy="1008888"/>
          </a:xfrm>
          <a:prstGeom prst="rect">
            <a:avLst/>
          </a:prstGeom>
          <a:solidFill>
            <a:srgbClr val="4EABCC">
              <a:alpha val="16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Our Customized Text Editor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BDB76F-582C-A138-6516-BD318E858DE2}"/>
              </a:ext>
            </a:extLst>
          </p:cNvPr>
          <p:cNvSpPr/>
          <p:nvPr/>
        </p:nvSpPr>
        <p:spPr>
          <a:xfrm>
            <a:off x="6420612" y="4289084"/>
            <a:ext cx="1490472" cy="10088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Gemini API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CB5552-3C54-1E94-D951-11625211599F}"/>
              </a:ext>
            </a:extLst>
          </p:cNvPr>
          <p:cNvSpPr/>
          <p:nvPr/>
        </p:nvSpPr>
        <p:spPr>
          <a:xfrm>
            <a:off x="8305798" y="4306824"/>
            <a:ext cx="1490472" cy="10088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OpenAI API</a:t>
            </a:r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6323E2-7BD5-6B3C-A212-DF43EE0216D5}"/>
              </a:ext>
            </a:extLst>
          </p:cNvPr>
          <p:cNvSpPr/>
          <p:nvPr/>
        </p:nvSpPr>
        <p:spPr>
          <a:xfrm>
            <a:off x="10190987" y="4289084"/>
            <a:ext cx="1490472" cy="10088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Grammarly API</a:t>
            </a:r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73C1E7-9C6F-DA5B-EBFC-F807160418FD}"/>
              </a:ext>
            </a:extLst>
          </p:cNvPr>
          <p:cNvSpPr/>
          <p:nvPr/>
        </p:nvSpPr>
        <p:spPr>
          <a:xfrm>
            <a:off x="6426741" y="5657088"/>
            <a:ext cx="5260845" cy="1008888"/>
          </a:xfrm>
          <a:prstGeom prst="rect">
            <a:avLst/>
          </a:prstGeom>
          <a:solidFill>
            <a:srgbClr val="4EABCC">
              <a:alpha val="16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Our Customized Text Summarizer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FF6A2B7-953B-23AE-1FC2-585E4C14E597}"/>
              </a:ext>
            </a:extLst>
          </p:cNvPr>
          <p:cNvCxnSpPr>
            <a:cxnSpLocks/>
          </p:cNvCxnSpPr>
          <p:nvPr/>
        </p:nvCxnSpPr>
        <p:spPr>
          <a:xfrm>
            <a:off x="2003705" y="4289084"/>
            <a:ext cx="0" cy="9718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5A140AA-63D0-1BB5-FF9A-41ADA7D4E24A}"/>
              </a:ext>
            </a:extLst>
          </p:cNvPr>
          <p:cNvCxnSpPr>
            <a:cxnSpLocks/>
          </p:cNvCxnSpPr>
          <p:nvPr/>
        </p:nvCxnSpPr>
        <p:spPr>
          <a:xfrm>
            <a:off x="3875177" y="4306824"/>
            <a:ext cx="0" cy="9775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3468918-9AB8-AFB8-40C5-AD4094A67A85}"/>
              </a:ext>
            </a:extLst>
          </p:cNvPr>
          <p:cNvCxnSpPr>
            <a:cxnSpLocks/>
          </p:cNvCxnSpPr>
          <p:nvPr/>
        </p:nvCxnSpPr>
        <p:spPr>
          <a:xfrm>
            <a:off x="8099705" y="4230718"/>
            <a:ext cx="0" cy="10713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65D3467-7218-EFE4-7942-EE531A4E5648}"/>
              </a:ext>
            </a:extLst>
          </p:cNvPr>
          <p:cNvCxnSpPr>
            <a:cxnSpLocks/>
          </p:cNvCxnSpPr>
          <p:nvPr/>
        </p:nvCxnSpPr>
        <p:spPr>
          <a:xfrm>
            <a:off x="10004705" y="4230718"/>
            <a:ext cx="0" cy="10713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777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EFECFDE-A4B1-3244-2DFA-A3C99846B7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727"/>
          <a:stretch/>
        </p:blipFill>
        <p:spPr>
          <a:xfrm>
            <a:off x="4206670" y="237112"/>
            <a:ext cx="3778660" cy="276873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4F27CAF-9725-6C62-4A37-8110833B30C8}"/>
              </a:ext>
            </a:extLst>
          </p:cNvPr>
          <p:cNvCxnSpPr>
            <a:cxnSpLocks/>
          </p:cNvCxnSpPr>
          <p:nvPr/>
        </p:nvCxnSpPr>
        <p:spPr>
          <a:xfrm>
            <a:off x="6096000" y="3539778"/>
            <a:ext cx="0" cy="23151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B27C509-5BC8-3ECE-5971-45AA21777A32}"/>
              </a:ext>
            </a:extLst>
          </p:cNvPr>
          <p:cNvSpPr/>
          <p:nvPr/>
        </p:nvSpPr>
        <p:spPr>
          <a:xfrm>
            <a:off x="1556423" y="3429000"/>
            <a:ext cx="3778655" cy="7879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0" i="0" dirty="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j-lt"/>
              </a:rPr>
              <a:t>speech_to_text</a:t>
            </a:r>
            <a:r>
              <a:rPr lang="en-IN" sz="24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j-lt"/>
              </a:rPr>
              <a:t> 6.6.2 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151A74-D7C6-B35E-7DC7-3E552B6589CD}"/>
              </a:ext>
            </a:extLst>
          </p:cNvPr>
          <p:cNvSpPr/>
          <p:nvPr/>
        </p:nvSpPr>
        <p:spPr>
          <a:xfrm>
            <a:off x="6856922" y="3429000"/>
            <a:ext cx="3778655" cy="7879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0" i="0" dirty="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j-lt"/>
              </a:rPr>
              <a:t>flutter_tts</a:t>
            </a:r>
            <a:r>
              <a:rPr lang="en-IN" sz="24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+mj-lt"/>
              </a:rPr>
              <a:t> 4.0.2 </a:t>
            </a:r>
            <a:endParaRPr lang="en-IN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5420A7-4442-FBF4-DA94-079C333E80A8}"/>
              </a:ext>
            </a:extLst>
          </p:cNvPr>
          <p:cNvSpPr txBox="1"/>
          <p:nvPr/>
        </p:nvSpPr>
        <p:spPr>
          <a:xfrm>
            <a:off x="1556426" y="4377447"/>
            <a:ext cx="37786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solidFill>
                  <a:srgbClr val="4A4A4A"/>
                </a:solidFill>
                <a:effectLst/>
                <a:highlight>
                  <a:srgbClr val="FFFFFF"/>
                </a:highlight>
                <a:latin typeface="Google Sans Text"/>
              </a:rPr>
              <a:t>A flutter </a:t>
            </a:r>
            <a:r>
              <a:rPr lang="en-US" b="0" i="0" dirty="0">
                <a:solidFill>
                  <a:srgbClr val="4EABCC"/>
                </a:solidFill>
                <a:effectLst/>
                <a:highlight>
                  <a:srgbClr val="FFFFFF"/>
                </a:highlight>
                <a:latin typeface="Google Sans Text"/>
              </a:rPr>
              <a:t>library</a:t>
            </a:r>
            <a:r>
              <a:rPr lang="en-US" b="0" i="0" dirty="0">
                <a:solidFill>
                  <a:srgbClr val="4A4A4A"/>
                </a:solidFill>
                <a:effectLst/>
                <a:highlight>
                  <a:srgbClr val="FFFFFF"/>
                </a:highlight>
                <a:latin typeface="Google Sans Text"/>
              </a:rPr>
              <a:t> that exposes device specific speech recognition capability.</a:t>
            </a:r>
          </a:p>
          <a:p>
            <a:pPr algn="ctr"/>
            <a:br>
              <a:rPr lang="en-US" dirty="0"/>
            </a:b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03B6F7-7DB3-53D1-CE21-23B360CCBAC0}"/>
              </a:ext>
            </a:extLst>
          </p:cNvPr>
          <p:cNvSpPr txBox="1"/>
          <p:nvPr/>
        </p:nvSpPr>
        <p:spPr>
          <a:xfrm>
            <a:off x="6856922" y="4374205"/>
            <a:ext cx="3778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solidFill>
                  <a:srgbClr val="4A4A4A"/>
                </a:solidFill>
                <a:effectLst/>
                <a:highlight>
                  <a:srgbClr val="FFFFFF"/>
                </a:highlight>
                <a:latin typeface="Google Sans Text"/>
              </a:rPr>
              <a:t>A flutter text to speech </a:t>
            </a:r>
            <a:r>
              <a:rPr lang="en-US" b="0" i="0" dirty="0">
                <a:solidFill>
                  <a:srgbClr val="4EABCC"/>
                </a:solidFill>
                <a:effectLst/>
                <a:highlight>
                  <a:srgbClr val="FFFFFF"/>
                </a:highlight>
                <a:latin typeface="Google Sans Text"/>
              </a:rPr>
              <a:t>plugin</a:t>
            </a:r>
            <a:r>
              <a:rPr lang="en-US" b="0" i="0" dirty="0">
                <a:solidFill>
                  <a:srgbClr val="4A4A4A"/>
                </a:solidFill>
                <a:effectLst/>
                <a:highlight>
                  <a:srgbClr val="FFFFFF"/>
                </a:highlight>
                <a:latin typeface="Google Sans Text"/>
              </a:rPr>
              <a:t> (</a:t>
            </a:r>
            <a:r>
              <a:rPr lang="en-US" b="0" i="0" dirty="0" err="1">
                <a:solidFill>
                  <a:srgbClr val="4A4A4A"/>
                </a:solidFill>
                <a:effectLst/>
                <a:highlight>
                  <a:srgbClr val="FFFFFF"/>
                </a:highlight>
                <a:latin typeface="Google Sans Text"/>
              </a:rPr>
              <a:t>Swift,Kotlin</a:t>
            </a:r>
            <a:r>
              <a:rPr lang="en-US" b="0" i="0" dirty="0">
                <a:solidFill>
                  <a:srgbClr val="4A4A4A"/>
                </a:solidFill>
                <a:effectLst/>
                <a:highlight>
                  <a:srgbClr val="FFFFFF"/>
                </a:highlight>
                <a:latin typeface="Google Sans Tex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75701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2F18-7726-35AD-B9A4-67C612E0B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120" y="2890170"/>
            <a:ext cx="7223760" cy="107765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EABCC"/>
                </a:solidFill>
              </a:rPr>
              <a:t>Execution </a:t>
            </a:r>
            <a:r>
              <a:rPr lang="en-US" dirty="0"/>
              <a:t>Plan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3165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8011B-CB4D-3A6D-7D1A-82DE4FA3C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4EABCC"/>
                </a:solidFill>
              </a:rPr>
              <a:t>Class</a:t>
            </a:r>
            <a:r>
              <a:rPr lang="en-US" dirty="0"/>
              <a:t> Diagram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22C8300-5F5E-9A6D-AE17-EC954E80E2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295349"/>
              </p:ext>
            </p:extLst>
          </p:nvPr>
        </p:nvGraphicFramePr>
        <p:xfrm>
          <a:off x="10872787" y="6340475"/>
          <a:ext cx="13192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318437" imgH="517956" progId="Package">
                  <p:embed/>
                </p:oleObj>
              </mc:Choice>
              <mc:Fallback>
                <p:oleObj name="Packager Shell Object" showAsIcon="1" r:id="rId2" imgW="1318437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872787" y="6340475"/>
                        <a:ext cx="1319213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4459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926F9EC-0751-3E5D-4145-0221EDE84DB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05544" y="104012"/>
            <a:ext cx="7180912" cy="664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076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25836-7115-DCA4-B56A-5481F468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4EABCC"/>
                </a:solidFill>
              </a:rPr>
              <a:t>State</a:t>
            </a:r>
            <a:r>
              <a:rPr lang="en-US" dirty="0"/>
              <a:t> Diagram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1BF7CF02-9323-E963-C28F-2DAE3E18FB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827207"/>
              </p:ext>
            </p:extLst>
          </p:nvPr>
        </p:nvGraphicFramePr>
        <p:xfrm>
          <a:off x="10804525" y="6340475"/>
          <a:ext cx="13874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386911" imgH="517956" progId="Package">
                  <p:embed/>
                </p:oleObj>
              </mc:Choice>
              <mc:Fallback>
                <p:oleObj name="Packager Shell Object" showAsIcon="1" r:id="rId2" imgW="1386911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804525" y="6340475"/>
                        <a:ext cx="138747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5232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5A748AC-4437-DE5C-86E6-D243171E4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123" y="140972"/>
            <a:ext cx="10393754" cy="657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0064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7D2CC-DEF2-EF0D-E209-1010E80A0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4EABCC"/>
                </a:solidFill>
              </a:rPr>
              <a:t>Activity</a:t>
            </a:r>
            <a:r>
              <a:rPr lang="en-US" dirty="0"/>
              <a:t> Diagram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DA04ED4-82D7-2C58-966E-0B58680B4F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8532083"/>
              </p:ext>
            </p:extLst>
          </p:nvPr>
        </p:nvGraphicFramePr>
        <p:xfrm>
          <a:off x="10660063" y="6340475"/>
          <a:ext cx="15319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531514" imgH="517956" progId="Package">
                  <p:embed/>
                </p:oleObj>
              </mc:Choice>
              <mc:Fallback>
                <p:oleObj name="Packager Shell Object" showAsIcon="1" r:id="rId2" imgW="1531514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660063" y="6340475"/>
                        <a:ext cx="1531937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4238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77D90FD-5F7E-145C-F5C3-C32FB4C6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316" y="652982"/>
            <a:ext cx="11877368" cy="555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28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FFB4B-5454-9781-0899-DACA32C7A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4EABCC"/>
                </a:solidFill>
              </a:rPr>
              <a:t>Sequence</a:t>
            </a:r>
            <a:r>
              <a:rPr lang="en-US" dirty="0"/>
              <a:t> Diagram</a:t>
            </a:r>
          </a:p>
        </p:txBody>
      </p:sp>
    </p:spTree>
    <p:extLst>
      <p:ext uri="{BB962C8B-B14F-4D97-AF65-F5344CB8AC3E}">
        <p14:creationId xmlns:p14="http://schemas.microsoft.com/office/powerpoint/2010/main" val="1583053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0016CA-5C3B-9488-99F6-E9305DAAD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175" y="1204912"/>
            <a:ext cx="7105650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372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60E281-A224-5B16-94A8-E8A3250FD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303" y="0"/>
            <a:ext cx="96673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202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972326-BABB-749B-20F9-484F30B98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125" y="19050"/>
            <a:ext cx="9429750" cy="68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0525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B7E6AE-C7F6-451D-9F4D-B47005E6A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03" y="0"/>
            <a:ext cx="99213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4032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E1E6CA-BB3C-D08A-AFFD-A99B35002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365" y="0"/>
            <a:ext cx="87132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2966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E2C63B-690A-5BD9-5619-8A0F1D340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373" y="0"/>
            <a:ext cx="104772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844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C20A89-B816-3636-862C-86507856E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561" y="0"/>
            <a:ext cx="69648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8500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1A419C-7762-821D-7C04-738268435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373" y="0"/>
            <a:ext cx="104772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5250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5C4AC10-92DA-2E28-3F76-984CA787F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538" y="928688"/>
            <a:ext cx="7400925" cy="500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73232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B4CB3-591C-82DF-06FA-9F4F7382D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Data </a:t>
            </a:r>
            <a:r>
              <a:rPr lang="en-US" dirty="0">
                <a:solidFill>
                  <a:srgbClr val="4EABCC"/>
                </a:solidFill>
              </a:rPr>
              <a:t>Dictionary</a:t>
            </a:r>
          </a:p>
        </p:txBody>
      </p:sp>
    </p:spTree>
    <p:extLst>
      <p:ext uri="{BB962C8B-B14F-4D97-AF65-F5344CB8AC3E}">
        <p14:creationId xmlns:p14="http://schemas.microsoft.com/office/powerpoint/2010/main" val="28019167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C53EEA7-2219-6FB6-2968-E0F9620E4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310" y="399306"/>
            <a:ext cx="9431380" cy="5942352"/>
          </a:xfrm>
          <a:prstGeom prst="rect">
            <a:avLst/>
          </a:prstGeom>
        </p:spPr>
      </p:pic>
      <p:sp>
        <p:nvSpPr>
          <p:cNvPr id="12" name="Rectangle 11">
            <a:hlinkClick r:id="rId3" action="ppaction://hlinksldjump"/>
            <a:extLst>
              <a:ext uri="{FF2B5EF4-FFF2-40B4-BE49-F238E27FC236}">
                <a16:creationId xmlns:a16="http://schemas.microsoft.com/office/drawing/2014/main" id="{D33A7CAA-5D3B-F67B-543C-BD4AC7EFD2A6}"/>
              </a:ext>
            </a:extLst>
          </p:cNvPr>
          <p:cNvSpPr/>
          <p:nvPr/>
        </p:nvSpPr>
        <p:spPr>
          <a:xfrm>
            <a:off x="3343566" y="1284747"/>
            <a:ext cx="1108363" cy="517236"/>
          </a:xfrm>
          <a:prstGeom prst="rect">
            <a:avLst/>
          </a:prstGeom>
          <a:noFill/>
          <a:ln>
            <a:solidFill>
              <a:srgbClr val="E7E6E6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hlinkClick r:id="rId4" action="ppaction://hlinksldjump"/>
            <a:extLst>
              <a:ext uri="{FF2B5EF4-FFF2-40B4-BE49-F238E27FC236}">
                <a16:creationId xmlns:a16="http://schemas.microsoft.com/office/drawing/2014/main" id="{67AB1C99-0758-49C6-7102-55A9588697DF}"/>
              </a:ext>
            </a:extLst>
          </p:cNvPr>
          <p:cNvSpPr/>
          <p:nvPr/>
        </p:nvSpPr>
        <p:spPr>
          <a:xfrm>
            <a:off x="5329383" y="1284747"/>
            <a:ext cx="1320799" cy="517236"/>
          </a:xfrm>
          <a:prstGeom prst="rect">
            <a:avLst/>
          </a:prstGeom>
          <a:noFill/>
          <a:ln>
            <a:solidFill>
              <a:srgbClr val="E7E6E6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hlinkClick r:id="rId5" action="ppaction://hlinksldjump"/>
            <a:extLst>
              <a:ext uri="{FF2B5EF4-FFF2-40B4-BE49-F238E27FC236}">
                <a16:creationId xmlns:a16="http://schemas.microsoft.com/office/drawing/2014/main" id="{B6D8AB53-031C-81AF-8C49-0F4E72320B0E}"/>
              </a:ext>
            </a:extLst>
          </p:cNvPr>
          <p:cNvSpPr/>
          <p:nvPr/>
        </p:nvSpPr>
        <p:spPr>
          <a:xfrm>
            <a:off x="7878619" y="1820456"/>
            <a:ext cx="1519382" cy="517236"/>
          </a:xfrm>
          <a:prstGeom prst="rect">
            <a:avLst/>
          </a:prstGeom>
          <a:noFill/>
          <a:ln>
            <a:solidFill>
              <a:srgbClr val="E7E6E6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6" action="ppaction://hlinksldjump"/>
            <a:extLst>
              <a:ext uri="{FF2B5EF4-FFF2-40B4-BE49-F238E27FC236}">
                <a16:creationId xmlns:a16="http://schemas.microsoft.com/office/drawing/2014/main" id="{9D3F03DD-4A5C-E998-9C41-4F7EEA87C168}"/>
              </a:ext>
            </a:extLst>
          </p:cNvPr>
          <p:cNvSpPr/>
          <p:nvPr/>
        </p:nvSpPr>
        <p:spPr>
          <a:xfrm>
            <a:off x="5320147" y="2603865"/>
            <a:ext cx="1320799" cy="517236"/>
          </a:xfrm>
          <a:prstGeom prst="rect">
            <a:avLst/>
          </a:prstGeom>
          <a:noFill/>
          <a:ln>
            <a:solidFill>
              <a:srgbClr val="E7E6E6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hlinkClick r:id="rId7" action="ppaction://hlinksldjump"/>
            <a:extLst>
              <a:ext uri="{FF2B5EF4-FFF2-40B4-BE49-F238E27FC236}">
                <a16:creationId xmlns:a16="http://schemas.microsoft.com/office/drawing/2014/main" id="{6D046282-BFD1-BA18-FBC3-E1087BC56897}"/>
              </a:ext>
            </a:extLst>
          </p:cNvPr>
          <p:cNvSpPr/>
          <p:nvPr/>
        </p:nvSpPr>
        <p:spPr>
          <a:xfrm>
            <a:off x="2766292" y="2986546"/>
            <a:ext cx="1519382" cy="517236"/>
          </a:xfrm>
          <a:prstGeom prst="rect">
            <a:avLst/>
          </a:prstGeom>
          <a:noFill/>
          <a:ln>
            <a:solidFill>
              <a:srgbClr val="E7E6E6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8" action="ppaction://hlinksldjump"/>
            <a:extLst>
              <a:ext uri="{FF2B5EF4-FFF2-40B4-BE49-F238E27FC236}">
                <a16:creationId xmlns:a16="http://schemas.microsoft.com/office/drawing/2014/main" id="{369BBDA5-0609-223E-6669-AC9B3626AAD7}"/>
              </a:ext>
            </a:extLst>
          </p:cNvPr>
          <p:cNvSpPr/>
          <p:nvPr/>
        </p:nvSpPr>
        <p:spPr>
          <a:xfrm>
            <a:off x="2835564" y="3749848"/>
            <a:ext cx="1108363" cy="517236"/>
          </a:xfrm>
          <a:prstGeom prst="rect">
            <a:avLst/>
          </a:prstGeom>
          <a:noFill/>
          <a:ln>
            <a:solidFill>
              <a:srgbClr val="E7E6E6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hlinkClick r:id="rId9" action="ppaction://hlinksldjump"/>
            <a:extLst>
              <a:ext uri="{FF2B5EF4-FFF2-40B4-BE49-F238E27FC236}">
                <a16:creationId xmlns:a16="http://schemas.microsoft.com/office/drawing/2014/main" id="{6C9286FA-38FD-3794-6DC1-DE32ED88CA93}"/>
              </a:ext>
            </a:extLst>
          </p:cNvPr>
          <p:cNvSpPr/>
          <p:nvPr/>
        </p:nvSpPr>
        <p:spPr>
          <a:xfrm>
            <a:off x="2766293" y="4911376"/>
            <a:ext cx="1313872" cy="517236"/>
          </a:xfrm>
          <a:prstGeom prst="rect">
            <a:avLst/>
          </a:prstGeom>
          <a:noFill/>
          <a:ln>
            <a:solidFill>
              <a:srgbClr val="E7E6E6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hlinkClick r:id="rId10" action="ppaction://hlinksldjump"/>
            <a:extLst>
              <a:ext uri="{FF2B5EF4-FFF2-40B4-BE49-F238E27FC236}">
                <a16:creationId xmlns:a16="http://schemas.microsoft.com/office/drawing/2014/main" id="{459FCEBE-ED53-3CC3-1393-EF29A366E263}"/>
              </a:ext>
            </a:extLst>
          </p:cNvPr>
          <p:cNvSpPr/>
          <p:nvPr/>
        </p:nvSpPr>
        <p:spPr>
          <a:xfrm>
            <a:off x="3804857" y="5429969"/>
            <a:ext cx="1313872" cy="517236"/>
          </a:xfrm>
          <a:prstGeom prst="rect">
            <a:avLst/>
          </a:prstGeom>
          <a:noFill/>
          <a:ln>
            <a:solidFill>
              <a:srgbClr val="E7E6E6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hlinkClick r:id="rId11" action="ppaction://hlinksldjump"/>
            <a:extLst>
              <a:ext uri="{FF2B5EF4-FFF2-40B4-BE49-F238E27FC236}">
                <a16:creationId xmlns:a16="http://schemas.microsoft.com/office/drawing/2014/main" id="{C1659BB7-63F3-A483-5A1F-78BE07E2D1E5}"/>
              </a:ext>
            </a:extLst>
          </p:cNvPr>
          <p:cNvSpPr/>
          <p:nvPr/>
        </p:nvSpPr>
        <p:spPr>
          <a:xfrm>
            <a:off x="6022109" y="5429969"/>
            <a:ext cx="1699491" cy="517236"/>
          </a:xfrm>
          <a:prstGeom prst="rect">
            <a:avLst/>
          </a:prstGeom>
          <a:noFill/>
          <a:ln>
            <a:solidFill>
              <a:srgbClr val="E7E6E6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hlinkClick r:id="rId12" action="ppaction://hlinksldjump"/>
            <a:extLst>
              <a:ext uri="{FF2B5EF4-FFF2-40B4-BE49-F238E27FC236}">
                <a16:creationId xmlns:a16="http://schemas.microsoft.com/office/drawing/2014/main" id="{17FFD118-D531-8D7E-065A-4A4B431ABFB8}"/>
              </a:ext>
            </a:extLst>
          </p:cNvPr>
          <p:cNvSpPr/>
          <p:nvPr/>
        </p:nvSpPr>
        <p:spPr>
          <a:xfrm>
            <a:off x="8370719" y="5441919"/>
            <a:ext cx="1699491" cy="517236"/>
          </a:xfrm>
          <a:prstGeom prst="rect">
            <a:avLst/>
          </a:prstGeom>
          <a:noFill/>
          <a:ln>
            <a:solidFill>
              <a:srgbClr val="E7E6E6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hlinkClick r:id="rId13" action="ppaction://hlinksldjump"/>
            <a:extLst>
              <a:ext uri="{FF2B5EF4-FFF2-40B4-BE49-F238E27FC236}">
                <a16:creationId xmlns:a16="http://schemas.microsoft.com/office/drawing/2014/main" id="{A26E4C19-4888-EFA8-4171-7572E5E839F5}"/>
              </a:ext>
            </a:extLst>
          </p:cNvPr>
          <p:cNvSpPr/>
          <p:nvPr/>
        </p:nvSpPr>
        <p:spPr>
          <a:xfrm>
            <a:off x="7712366" y="4652758"/>
            <a:ext cx="1819562" cy="517236"/>
          </a:xfrm>
          <a:prstGeom prst="rect">
            <a:avLst/>
          </a:prstGeom>
          <a:noFill/>
          <a:ln>
            <a:solidFill>
              <a:srgbClr val="E7E6E6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hlinkClick r:id="rId14" action="ppaction://hlinksldjump"/>
            <a:extLst>
              <a:ext uri="{FF2B5EF4-FFF2-40B4-BE49-F238E27FC236}">
                <a16:creationId xmlns:a16="http://schemas.microsoft.com/office/drawing/2014/main" id="{88125C13-2704-3A59-8BC1-F1CA636D849B}"/>
              </a:ext>
            </a:extLst>
          </p:cNvPr>
          <p:cNvSpPr/>
          <p:nvPr/>
        </p:nvSpPr>
        <p:spPr>
          <a:xfrm>
            <a:off x="7899665" y="3749848"/>
            <a:ext cx="1320799" cy="517236"/>
          </a:xfrm>
          <a:prstGeom prst="rect">
            <a:avLst/>
          </a:prstGeom>
          <a:noFill/>
          <a:ln>
            <a:solidFill>
              <a:srgbClr val="E7E6E6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hlinkClick r:id="rId15" action="ppaction://hlinksldjump"/>
            <a:extLst>
              <a:ext uri="{FF2B5EF4-FFF2-40B4-BE49-F238E27FC236}">
                <a16:creationId xmlns:a16="http://schemas.microsoft.com/office/drawing/2014/main" id="{A2C87097-E62B-31DC-43F8-80720BFE4649}"/>
              </a:ext>
            </a:extLst>
          </p:cNvPr>
          <p:cNvSpPr/>
          <p:nvPr/>
        </p:nvSpPr>
        <p:spPr>
          <a:xfrm>
            <a:off x="7878619" y="2838032"/>
            <a:ext cx="1320799" cy="517236"/>
          </a:xfrm>
          <a:prstGeom prst="rect">
            <a:avLst/>
          </a:prstGeom>
          <a:noFill/>
          <a:ln>
            <a:solidFill>
              <a:srgbClr val="E7E6E6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hlinkClick r:id="rId16" action="ppaction://hlinksldjump"/>
            <a:extLst>
              <a:ext uri="{FF2B5EF4-FFF2-40B4-BE49-F238E27FC236}">
                <a16:creationId xmlns:a16="http://schemas.microsoft.com/office/drawing/2014/main" id="{FBB2781E-66A6-C093-E5E2-368DD9E8C644}"/>
              </a:ext>
            </a:extLst>
          </p:cNvPr>
          <p:cNvSpPr/>
          <p:nvPr/>
        </p:nvSpPr>
        <p:spPr>
          <a:xfrm>
            <a:off x="5399181" y="3570390"/>
            <a:ext cx="1108363" cy="517236"/>
          </a:xfrm>
          <a:prstGeom prst="rect">
            <a:avLst/>
          </a:prstGeom>
          <a:noFill/>
          <a:ln>
            <a:solidFill>
              <a:srgbClr val="E7E6E6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hlinkClick r:id="rId17" action="ppaction://hlinksldjump"/>
            <a:extLst>
              <a:ext uri="{FF2B5EF4-FFF2-40B4-BE49-F238E27FC236}">
                <a16:creationId xmlns:a16="http://schemas.microsoft.com/office/drawing/2014/main" id="{D8474839-DFD2-CE3C-0EBC-CB1ACA5EB5CA}"/>
              </a:ext>
            </a:extLst>
          </p:cNvPr>
          <p:cNvSpPr/>
          <p:nvPr/>
        </p:nvSpPr>
        <p:spPr>
          <a:xfrm>
            <a:off x="5246255" y="4536915"/>
            <a:ext cx="1452419" cy="517236"/>
          </a:xfrm>
          <a:prstGeom prst="rect">
            <a:avLst/>
          </a:prstGeom>
          <a:noFill/>
          <a:ln>
            <a:solidFill>
              <a:srgbClr val="E7E6E6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856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63915-9F99-5A71-0B26-249367D7A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4EABCC"/>
                </a:solidFill>
              </a:rPr>
              <a:t>Data Flow </a:t>
            </a:r>
            <a:r>
              <a:rPr lang="en-US" dirty="0"/>
              <a:t>Diagram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73C0A05-4B4F-E468-E795-E206BAB892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218250"/>
              </p:ext>
            </p:extLst>
          </p:nvPr>
        </p:nvGraphicFramePr>
        <p:xfrm>
          <a:off x="10583863" y="6308520"/>
          <a:ext cx="16081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607643" imgH="517956" progId="Package">
                  <p:embed/>
                </p:oleObj>
              </mc:Choice>
              <mc:Fallback>
                <p:oleObj name="Packager Shell Object" showAsIcon="1" r:id="rId2" imgW="1607643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583863" y="6308520"/>
                        <a:ext cx="1608137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01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4D8DE6-CB43-2D18-BCC8-0E4E16CECDC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871537"/>
            <a:ext cx="7924800" cy="51149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E86199-AE98-82BF-A3E8-4F37964004E9}"/>
              </a:ext>
            </a:extLst>
          </p:cNvPr>
          <p:cNvSpPr txBox="1"/>
          <p:nvPr/>
        </p:nvSpPr>
        <p:spPr>
          <a:xfrm>
            <a:off x="5490210" y="6272450"/>
            <a:ext cx="9806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Using </a:t>
            </a:r>
            <a:r>
              <a:rPr lang="en-US" b="1" dirty="0">
                <a:solidFill>
                  <a:srgbClr val="4EABCC"/>
                </a:solidFill>
              </a:rPr>
              <a:t>Gane and Sarson </a:t>
            </a:r>
            <a:r>
              <a:rPr lang="en-US" b="1" dirty="0"/>
              <a:t>Notation</a:t>
            </a:r>
          </a:p>
        </p:txBody>
      </p:sp>
    </p:spTree>
    <p:extLst>
      <p:ext uri="{BB962C8B-B14F-4D97-AF65-F5344CB8AC3E}">
        <p14:creationId xmlns:p14="http://schemas.microsoft.com/office/powerpoint/2010/main" val="18979920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0DCDFB-E482-04C2-BCE2-71B109F6782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57782" y="188378"/>
            <a:ext cx="9676435" cy="64812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2BEAAF-BCEE-42CF-1BE0-F4C7193F456F}"/>
              </a:ext>
            </a:extLst>
          </p:cNvPr>
          <p:cNvSpPr txBox="1"/>
          <p:nvPr/>
        </p:nvSpPr>
        <p:spPr>
          <a:xfrm>
            <a:off x="7246620" y="1883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Using </a:t>
            </a:r>
            <a:r>
              <a:rPr lang="en-US" b="1" dirty="0">
                <a:solidFill>
                  <a:srgbClr val="4EABCC"/>
                </a:solidFill>
              </a:rPr>
              <a:t>Gane and Sarson </a:t>
            </a:r>
            <a:r>
              <a:rPr lang="en-US" b="1" dirty="0"/>
              <a:t>Notation</a:t>
            </a:r>
          </a:p>
        </p:txBody>
      </p:sp>
    </p:spTree>
    <p:extLst>
      <p:ext uri="{BB962C8B-B14F-4D97-AF65-F5344CB8AC3E}">
        <p14:creationId xmlns:p14="http://schemas.microsoft.com/office/powerpoint/2010/main" val="42376620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9D10C-BA41-9E2A-F9D7-5D6F57189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4EABCC"/>
                </a:solidFill>
              </a:rPr>
              <a:t>Use Case </a:t>
            </a:r>
            <a:r>
              <a:rPr lang="en-US" dirty="0"/>
              <a:t>Diagram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B416B3A-20C9-F499-6811-1DE9B90604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574578"/>
              </p:ext>
            </p:extLst>
          </p:nvPr>
        </p:nvGraphicFramePr>
        <p:xfrm>
          <a:off x="11217275" y="6340475"/>
          <a:ext cx="9747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975218" imgH="517956" progId="Package">
                  <p:embed/>
                </p:oleObj>
              </mc:Choice>
              <mc:Fallback>
                <p:oleObj name="Packager Shell Object" showAsIcon="1" r:id="rId2" imgW="975218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217275" y="6340475"/>
                        <a:ext cx="97472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99932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4725FFE-1C92-3085-03B1-F2E341C55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59072" y="0"/>
            <a:ext cx="62738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457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E191B-5D74-27FF-2AD0-07196B30D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Graphical </a:t>
            </a:r>
            <a:r>
              <a:rPr lang="en-US" dirty="0">
                <a:solidFill>
                  <a:srgbClr val="4EABCC"/>
                </a:solidFill>
              </a:rPr>
              <a:t>Design</a:t>
            </a:r>
            <a:r>
              <a:rPr lang="en-US" dirty="0"/>
              <a:t> &amp;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18681953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7DB913-DEE3-A443-DE76-A28F7AEE4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748" y="549000"/>
            <a:ext cx="2718505" cy="576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2880A8-8F79-5CC8-FCA8-5040E0661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710" y="549000"/>
            <a:ext cx="2718505" cy="576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3C5F85-3866-820F-44FA-BE18983879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785" y="549000"/>
            <a:ext cx="2718506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7328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0A7D6-1657-ADAD-C151-4826CFD3F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F7D2705-5B0D-0307-2041-111173C0F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1786" y="549000"/>
            <a:ext cx="2718504" cy="576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BB5A29-D283-674C-138B-B3FB1E301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338" y="549000"/>
            <a:ext cx="2664256" cy="576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596956-D847-C4F3-7470-C4DCEACC87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0643" y="549000"/>
            <a:ext cx="2718505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521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8C282-7692-9550-D09A-02B706F60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82A5770-1306-5AA2-D4A0-7B1B452749A8}"/>
              </a:ext>
            </a:extLst>
          </p:cNvPr>
          <p:cNvGrpSpPr/>
          <p:nvPr/>
        </p:nvGrpSpPr>
        <p:grpSpPr>
          <a:xfrm>
            <a:off x="3260907" y="549002"/>
            <a:ext cx="8668169" cy="5759996"/>
            <a:chOff x="3320045" y="549002"/>
            <a:chExt cx="8668169" cy="575999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769A32D-DD18-7E4A-DA19-958A79A5B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320045" y="598052"/>
              <a:ext cx="2672203" cy="566189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D58CC49-D726-998E-A5D2-D5C0D4063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271728" y="598052"/>
              <a:ext cx="2718504" cy="5661896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1116240-2FCB-C691-6349-D3CFE2E5B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269711" y="549002"/>
              <a:ext cx="2718503" cy="5759996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5F4ED9C-DF82-9EE4-3AFD-7D7F687474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171" y="549002"/>
            <a:ext cx="2664256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2296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4375C-2062-6CA4-AB37-F8A842689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7A8B606-917D-17DF-F74E-746DBAFA866E}"/>
              </a:ext>
            </a:extLst>
          </p:cNvPr>
          <p:cNvGrpSpPr/>
          <p:nvPr/>
        </p:nvGrpSpPr>
        <p:grpSpPr>
          <a:xfrm>
            <a:off x="262924" y="549001"/>
            <a:ext cx="11666152" cy="5759998"/>
            <a:chOff x="322062" y="549001"/>
            <a:chExt cx="11666152" cy="575999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F19A919-1C87-41B1-14E8-6D01EFCAD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320045" y="598052"/>
              <a:ext cx="2672203" cy="566189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E2B7953-789F-B779-9F3E-49805D9BD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271728" y="549001"/>
              <a:ext cx="2718503" cy="575999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8A84DF4-FF46-8485-FFD6-5E7DA85D4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2062" y="549001"/>
              <a:ext cx="2718503" cy="5759998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33C2EF3-F1AD-179A-F95D-86EFD7E08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269711" y="549002"/>
              <a:ext cx="2718503" cy="57599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204288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E331E-B0D9-6588-7A89-5D739D666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AB41E9-9063-26F5-3178-D7AD27043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9898" y="598052"/>
            <a:ext cx="2672203" cy="56618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4506D4-C5CE-4F65-71CC-394589D37B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11710" y="549001"/>
            <a:ext cx="2718503" cy="57599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02D191-F64B-B966-FBDB-B7237C5F76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1786" y="598052"/>
            <a:ext cx="2718504" cy="566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002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9B0A6-C253-F6E2-AB26-C33347928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560E31-91FA-AA0F-F150-FF41DB8E7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36748" y="591147"/>
            <a:ext cx="2718504" cy="56757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21F704-6F29-FA32-1DAC-3FFE74BBD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171" y="549000"/>
            <a:ext cx="2699582" cy="576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F3F5B1-EDA9-61A9-87CC-AF173AA919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4954" y="549000"/>
            <a:ext cx="2712167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669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BAD86-D3BA-FE91-983E-010A48AA6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2F9A5D-0E87-45C7-C857-8C7F46347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6640" y="591147"/>
            <a:ext cx="2678720" cy="56757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E9543D-5683-335A-E467-F9DA3036F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171" y="569047"/>
            <a:ext cx="2699582" cy="57199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9CE0C3-C4C2-D84B-08CC-D6E7C39484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4954" y="555714"/>
            <a:ext cx="2712167" cy="574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7405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7FEE8-5581-C422-8095-A879AD33A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5FB316-177D-B74C-3F83-CBF0DC4E4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6640" y="591148"/>
            <a:ext cx="2678720" cy="56757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2EEF14-BF45-470A-DE72-6003664244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171" y="569047"/>
            <a:ext cx="2699581" cy="57199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6CF7CD-5D1F-DA8E-0A61-DB7182A2C7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4954" y="555714"/>
            <a:ext cx="2712166" cy="574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2795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9B280-E54E-15A9-9222-947C5B404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4EABCC"/>
                </a:solidFill>
              </a:rPr>
              <a:t>Technology</a:t>
            </a:r>
            <a:r>
              <a:rPr lang="en-US" dirty="0"/>
              <a:t> Stack: Tools &amp; Frameworks</a:t>
            </a:r>
          </a:p>
        </p:txBody>
      </p:sp>
    </p:spTree>
    <p:extLst>
      <p:ext uri="{BB962C8B-B14F-4D97-AF65-F5344CB8AC3E}">
        <p14:creationId xmlns:p14="http://schemas.microsoft.com/office/powerpoint/2010/main" val="33786700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5E221-C0CD-353A-8768-EE3D6B0E1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20" y="18224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4EABCC"/>
                </a:solidFill>
              </a:rPr>
              <a:t>Technology Stack </a:t>
            </a:r>
            <a:endParaRPr lang="en-IN" b="1" dirty="0">
              <a:solidFill>
                <a:srgbClr val="4EABCC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DECAF7-99A9-E4C5-795D-16CACDBAAF94}"/>
              </a:ext>
            </a:extLst>
          </p:cNvPr>
          <p:cNvSpPr/>
          <p:nvPr/>
        </p:nvSpPr>
        <p:spPr>
          <a:xfrm>
            <a:off x="653288" y="1533605"/>
            <a:ext cx="1700784" cy="105156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Front end development</a:t>
            </a:r>
            <a:endParaRPr lang="en-IN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5AF464-08B7-91E0-F460-9AE44CDB3683}"/>
              </a:ext>
            </a:extLst>
          </p:cNvPr>
          <p:cNvSpPr/>
          <p:nvPr/>
        </p:nvSpPr>
        <p:spPr>
          <a:xfrm>
            <a:off x="3000248" y="1533605"/>
            <a:ext cx="1700784" cy="105156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Back end development</a:t>
            </a:r>
            <a:endParaRPr lang="en-IN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779A7C-8067-A292-6C0B-3BE57962DC17}"/>
              </a:ext>
            </a:extLst>
          </p:cNvPr>
          <p:cNvSpPr/>
          <p:nvPr/>
        </p:nvSpPr>
        <p:spPr>
          <a:xfrm>
            <a:off x="5347208" y="1533605"/>
            <a:ext cx="1700784" cy="105156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Database management</a:t>
            </a:r>
            <a:endParaRPr lang="en-IN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5D5119-DA12-ED7C-397E-C84F72FAAA59}"/>
              </a:ext>
            </a:extLst>
          </p:cNvPr>
          <p:cNvSpPr/>
          <p:nvPr/>
        </p:nvSpPr>
        <p:spPr>
          <a:xfrm>
            <a:off x="7694168" y="1533605"/>
            <a:ext cx="1700784" cy="105156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AI development</a:t>
            </a:r>
            <a:endParaRPr lang="en-IN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D2EC08-AFB0-FD59-5808-37C8A3DC512F}"/>
              </a:ext>
            </a:extLst>
          </p:cNvPr>
          <p:cNvSpPr/>
          <p:nvPr/>
        </p:nvSpPr>
        <p:spPr>
          <a:xfrm>
            <a:off x="10041128" y="1533605"/>
            <a:ext cx="1700784" cy="105156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Designing and UML Development</a:t>
            </a:r>
            <a:endParaRPr lang="en-IN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7387C0-BD47-7DA4-A292-C6E00351B3DC}"/>
              </a:ext>
            </a:extLst>
          </p:cNvPr>
          <p:cNvSpPr/>
          <p:nvPr/>
        </p:nvSpPr>
        <p:spPr>
          <a:xfrm>
            <a:off x="653288" y="2686701"/>
            <a:ext cx="1700784" cy="214788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4EABCC"/>
                </a:solidFill>
              </a:rPr>
              <a:t>Flutter</a:t>
            </a:r>
            <a:endParaRPr lang="en-IN" b="1" dirty="0">
              <a:solidFill>
                <a:srgbClr val="4EABCC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A17269-CAB4-E97C-44AF-532B378831E1}"/>
              </a:ext>
            </a:extLst>
          </p:cNvPr>
          <p:cNvSpPr/>
          <p:nvPr/>
        </p:nvSpPr>
        <p:spPr>
          <a:xfrm>
            <a:off x="3000248" y="2686701"/>
            <a:ext cx="1700784" cy="214788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4EABCC"/>
                </a:solidFill>
              </a:rPr>
              <a:t>Flutter, Dart</a:t>
            </a:r>
            <a:endParaRPr lang="en-IN" b="1" dirty="0">
              <a:solidFill>
                <a:srgbClr val="4EABCC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E7C816-9D1B-4244-21DC-74948DCC5C66}"/>
              </a:ext>
            </a:extLst>
          </p:cNvPr>
          <p:cNvSpPr/>
          <p:nvPr/>
        </p:nvSpPr>
        <p:spPr>
          <a:xfrm>
            <a:off x="5347208" y="2686701"/>
            <a:ext cx="1700784" cy="2185416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4EABCC"/>
                </a:solidFill>
              </a:rPr>
              <a:t>SQLite, Firebase</a:t>
            </a:r>
            <a:endParaRPr lang="en-IN" b="1" dirty="0">
              <a:solidFill>
                <a:srgbClr val="4EABCC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A29D22-08BC-FDC1-541C-468783D0A958}"/>
              </a:ext>
            </a:extLst>
          </p:cNvPr>
          <p:cNvSpPr/>
          <p:nvPr/>
        </p:nvSpPr>
        <p:spPr>
          <a:xfrm>
            <a:off x="7694168" y="2686701"/>
            <a:ext cx="1700784" cy="2185416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4EABCC"/>
                </a:solidFill>
              </a:rPr>
              <a:t>Python</a:t>
            </a:r>
            <a:endParaRPr lang="en-IN" b="1" dirty="0">
              <a:solidFill>
                <a:srgbClr val="4EABCC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15A787-34A8-7D48-DFEB-5A5000801D85}"/>
              </a:ext>
            </a:extLst>
          </p:cNvPr>
          <p:cNvSpPr/>
          <p:nvPr/>
        </p:nvSpPr>
        <p:spPr>
          <a:xfrm>
            <a:off x="10041128" y="2686701"/>
            <a:ext cx="1700784" cy="2185416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4EABCC"/>
                </a:solidFill>
              </a:rPr>
              <a:t>draw.io, Figma</a:t>
            </a:r>
            <a:endParaRPr lang="en-IN" b="1" dirty="0">
              <a:solidFill>
                <a:srgbClr val="4EABCC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DC09FC-7EDE-3CAC-825D-3D2463A0DE52}"/>
              </a:ext>
            </a:extLst>
          </p:cNvPr>
          <p:cNvSpPr/>
          <p:nvPr/>
        </p:nvSpPr>
        <p:spPr>
          <a:xfrm>
            <a:off x="653288" y="5063189"/>
            <a:ext cx="1700784" cy="125272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Datari Asgar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8DCC06-D065-45A0-8C4A-20AC1A46F006}"/>
              </a:ext>
            </a:extLst>
          </p:cNvPr>
          <p:cNvSpPr/>
          <p:nvPr/>
        </p:nvSpPr>
        <p:spPr>
          <a:xfrm>
            <a:off x="3000248" y="5063189"/>
            <a:ext cx="1700784" cy="125272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Qureshi Aaquif</a:t>
            </a:r>
          </a:p>
          <a:p>
            <a:pPr algn="ctr"/>
            <a:r>
              <a:rPr lang="en-US" dirty="0"/>
              <a:t>Shah Mrunal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DDF5A7-95B4-DFAE-2522-14233DB420BE}"/>
              </a:ext>
            </a:extLst>
          </p:cNvPr>
          <p:cNvSpPr/>
          <p:nvPr/>
        </p:nvSpPr>
        <p:spPr>
          <a:xfrm>
            <a:off x="5347208" y="5063189"/>
            <a:ext cx="1700784" cy="125272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Shah Malav</a:t>
            </a:r>
          </a:p>
          <a:p>
            <a:pPr algn="ctr"/>
            <a:r>
              <a:rPr lang="en-IN" dirty="0"/>
              <a:t>Qureshi Aaquif</a:t>
            </a:r>
          </a:p>
          <a:p>
            <a:pPr algn="ctr"/>
            <a:r>
              <a:rPr lang="en-IN" dirty="0"/>
              <a:t>Shah Mrunal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F33795-ED7D-0F93-7E7D-A4BD9C81A2A5}"/>
              </a:ext>
            </a:extLst>
          </p:cNvPr>
          <p:cNvSpPr/>
          <p:nvPr/>
        </p:nvSpPr>
        <p:spPr>
          <a:xfrm>
            <a:off x="7694168" y="5063189"/>
            <a:ext cx="1700784" cy="125272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Shah Mrunal</a:t>
            </a:r>
          </a:p>
          <a:p>
            <a:pPr algn="ctr"/>
            <a:r>
              <a:rPr lang="en-US" dirty="0"/>
              <a:t>Datari Asgar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51E1BB-443F-1331-FF16-B5B9729A91C1}"/>
              </a:ext>
            </a:extLst>
          </p:cNvPr>
          <p:cNvSpPr/>
          <p:nvPr/>
        </p:nvSpPr>
        <p:spPr>
          <a:xfrm>
            <a:off x="10041128" y="5063189"/>
            <a:ext cx="1700784" cy="125272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Shah Mrunal</a:t>
            </a:r>
          </a:p>
          <a:p>
            <a:pPr algn="ctr"/>
            <a:r>
              <a:rPr lang="en-US" dirty="0"/>
              <a:t>Datari Asgar</a:t>
            </a:r>
          </a:p>
          <a:p>
            <a:pPr algn="ctr"/>
            <a:r>
              <a:rPr lang="en-US" dirty="0"/>
              <a:t>Qureshi Aaquif</a:t>
            </a:r>
          </a:p>
          <a:p>
            <a:pPr algn="ctr"/>
            <a:r>
              <a:rPr lang="en-US" dirty="0"/>
              <a:t>Shah Malav</a:t>
            </a:r>
            <a:endParaRPr lang="en-IN" dirty="0"/>
          </a:p>
        </p:txBody>
      </p:sp>
      <p:pic>
        <p:nvPicPr>
          <p:cNvPr id="1026" name="Picture 2" descr="Flutter Icon Logo PNG vector in SVG ...">
            <a:extLst>
              <a:ext uri="{FF2B5EF4-FFF2-40B4-BE49-F238E27FC236}">
                <a16:creationId xmlns:a16="http://schemas.microsoft.com/office/drawing/2014/main" id="{79DC40F6-3D70-3D26-1855-E359D37BC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07" y="3040808"/>
            <a:ext cx="1094764" cy="820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rt Programming Language icon PNG and ...">
            <a:extLst>
              <a:ext uri="{FF2B5EF4-FFF2-40B4-BE49-F238E27FC236}">
                <a16:creationId xmlns:a16="http://schemas.microsoft.com/office/drawing/2014/main" id="{93C18FF2-F75E-6D72-450C-AEA81F9F2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414" y="3157511"/>
            <a:ext cx="644380" cy="644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Flutter Icon Logo PNG vector in SVG ...">
            <a:extLst>
              <a:ext uri="{FF2B5EF4-FFF2-40B4-BE49-F238E27FC236}">
                <a16:creationId xmlns:a16="http://schemas.microsoft.com/office/drawing/2014/main" id="{D5047DE8-13A2-D0B8-228A-7C13CBC848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0" r="18589"/>
          <a:stretch/>
        </p:blipFill>
        <p:spPr bwMode="auto">
          <a:xfrm>
            <a:off x="3123537" y="3069693"/>
            <a:ext cx="644380" cy="820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irebase Logo transparent PNG - StickPNG">
            <a:extLst>
              <a:ext uri="{FF2B5EF4-FFF2-40B4-BE49-F238E27FC236}">
                <a16:creationId xmlns:a16="http://schemas.microsoft.com/office/drawing/2014/main" id="{DA4276A5-8A1B-FA07-2733-732739C75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118" y="3046919"/>
            <a:ext cx="521047" cy="71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F6BD3A39-E7D2-2024-7CB5-B3D75CC43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887" y="3069693"/>
            <a:ext cx="733809" cy="733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Python Logo, symbol, meaning, history, PNG, brand">
            <a:extLst>
              <a:ext uri="{FF2B5EF4-FFF2-40B4-BE49-F238E27FC236}">
                <a16:creationId xmlns:a16="http://schemas.microsoft.com/office/drawing/2014/main" id="{F686670C-F654-C380-EC8A-9046F4C1B0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82" r="74655" b="29504"/>
          <a:stretch/>
        </p:blipFill>
        <p:spPr bwMode="auto">
          <a:xfrm>
            <a:off x="8206481" y="3153139"/>
            <a:ext cx="676158" cy="74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file type drawio&quot; Icon - Download for free – Iconduck">
            <a:extLst>
              <a:ext uri="{FF2B5EF4-FFF2-40B4-BE49-F238E27FC236}">
                <a16:creationId xmlns:a16="http://schemas.microsoft.com/office/drawing/2014/main" id="{B953CDD3-6FE3-F7B5-A7B6-9DB78EC40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0180" y="3186143"/>
            <a:ext cx="574502" cy="574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888935A7-8D77-FB4C-E5A0-F4205F870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1520" y="3215321"/>
            <a:ext cx="752117" cy="56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75925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1671C-9EAC-D641-8D7F-601748E71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58166"/>
            <a:ext cx="9144000" cy="1141667"/>
          </a:xfrm>
        </p:spPr>
        <p:txBody>
          <a:bodyPr/>
          <a:lstStyle/>
          <a:p>
            <a:r>
              <a:rPr lang="en-US" dirty="0"/>
              <a:t>projected </a:t>
            </a:r>
            <a:r>
              <a:rPr lang="en-US" dirty="0">
                <a:solidFill>
                  <a:srgbClr val="4EABCC"/>
                </a:solidFill>
              </a:rPr>
              <a:t>Timeline</a:t>
            </a:r>
            <a:r>
              <a:rPr lang="en-US" dirty="0"/>
              <a:t>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49137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074470ED-F7E3-CF4F-741D-D56AE79D38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541025"/>
              </p:ext>
            </p:extLst>
          </p:nvPr>
        </p:nvGraphicFramePr>
        <p:xfrm>
          <a:off x="258763" y="1704975"/>
          <a:ext cx="11745912" cy="416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867865" imgH="3497580" progId="Excel.Sheet.12">
                  <p:embed/>
                </p:oleObj>
              </mc:Choice>
              <mc:Fallback>
                <p:oleObj name="Worksheet" r:id="rId2" imgW="9867865" imgH="34975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8763" y="1704975"/>
                        <a:ext cx="11745912" cy="416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5E72C10-981B-2C50-8A29-6073EA7B7119}"/>
              </a:ext>
            </a:extLst>
          </p:cNvPr>
          <p:cNvSpPr txBox="1"/>
          <p:nvPr/>
        </p:nvSpPr>
        <p:spPr>
          <a:xfrm>
            <a:off x="350982" y="33718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4EABCC"/>
                </a:solidFill>
                <a:latin typeface="Brice SemiExpanded"/>
              </a:rPr>
              <a:t>Timeline/Gantt Chart</a:t>
            </a:r>
          </a:p>
        </p:txBody>
      </p:sp>
    </p:spTree>
    <p:extLst>
      <p:ext uri="{BB962C8B-B14F-4D97-AF65-F5344CB8AC3E}">
        <p14:creationId xmlns:p14="http://schemas.microsoft.com/office/powerpoint/2010/main" val="18045917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1671C-9EAC-D641-8D7F-601748E71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243" y="323275"/>
            <a:ext cx="9144000" cy="1141667"/>
          </a:xfrm>
        </p:spPr>
        <p:txBody>
          <a:bodyPr/>
          <a:lstStyle/>
          <a:p>
            <a:pPr algn="l"/>
            <a:r>
              <a:rPr lang="en-US" b="1" spc="600" dirty="0">
                <a:solidFill>
                  <a:srgbClr val="4EABCC"/>
                </a:solidFill>
              </a:rPr>
              <a:t>Conclusion</a:t>
            </a:r>
            <a:endParaRPr lang="en-IN" b="1" spc="600" dirty="0">
              <a:solidFill>
                <a:srgbClr val="4EABC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6B1E0-C234-B3DB-817D-F37AD4C4F896}"/>
              </a:ext>
            </a:extLst>
          </p:cNvPr>
          <p:cNvSpPr txBox="1">
            <a:spLocks/>
          </p:cNvSpPr>
          <p:nvPr/>
        </p:nvSpPr>
        <p:spPr>
          <a:xfrm>
            <a:off x="691572" y="1964889"/>
            <a:ext cx="10808855" cy="4569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free, </a:t>
            </a:r>
            <a:r>
              <a:rPr lang="en-US" dirty="0">
                <a:solidFill>
                  <a:srgbClr val="4EABCC"/>
                </a:solidFill>
              </a:rPr>
              <a:t>easy to use </a:t>
            </a:r>
            <a:r>
              <a:rPr lang="en-US" dirty="0"/>
              <a:t>diary writing app</a:t>
            </a:r>
          </a:p>
          <a:p>
            <a:pPr algn="l"/>
            <a:endParaRPr lang="en-US" dirty="0"/>
          </a:p>
          <a:p>
            <a:pPr marL="342900" indent="-342900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EABCC"/>
                </a:solidFill>
              </a:rPr>
              <a:t>Cross-platform app</a:t>
            </a:r>
            <a:r>
              <a:rPr lang="en-US" dirty="0"/>
              <a:t> supporting Android, and iOS ( for time being )</a:t>
            </a:r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Enabled with </a:t>
            </a:r>
            <a:r>
              <a:rPr lang="en-US" dirty="0">
                <a:solidFill>
                  <a:srgbClr val="4EABCC"/>
                </a:solidFill>
              </a:rPr>
              <a:t>Artificial Intelligence</a:t>
            </a:r>
            <a:r>
              <a:rPr lang="en-US" dirty="0"/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4EABCC"/>
              </a:solidFill>
            </a:endParaRPr>
          </a:p>
          <a:p>
            <a:pPr marL="342900" indent="-342900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EABCC"/>
                </a:solidFill>
              </a:rPr>
              <a:t>Open Diaries</a:t>
            </a:r>
            <a:r>
              <a:rPr lang="en-US" dirty="0"/>
              <a:t> where user can publicly share their view of world from their eyes.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36853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E3373A-ADBD-B28E-F791-75A7974B6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736" y="309544"/>
            <a:ext cx="2180527" cy="11376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F1E1F2-AAD7-F91F-CC41-21DA25F04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36" y="309544"/>
            <a:ext cx="1431639" cy="1137666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772D222-C4B9-90E7-1134-41D8D8F47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16139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4EABCC"/>
                </a:solidFill>
              </a:rPr>
              <a:t>Thank You</a:t>
            </a:r>
            <a:endParaRPr lang="en-IN" b="1" dirty="0">
              <a:solidFill>
                <a:srgbClr val="4EAB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134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A3B3E-1C1E-E015-4EA7-239B7B3F0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460"/>
            <a:ext cx="9978957" cy="817123"/>
          </a:xfrm>
        </p:spPr>
        <p:txBody>
          <a:bodyPr/>
          <a:lstStyle/>
          <a:p>
            <a:r>
              <a:rPr lang="en-US" b="1" dirty="0">
                <a:solidFill>
                  <a:srgbClr val="4EABCC"/>
                </a:solidFill>
              </a:rPr>
              <a:t>Reference</a:t>
            </a:r>
            <a:endParaRPr lang="en-IN" b="1" dirty="0">
              <a:solidFill>
                <a:srgbClr val="4EABC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05B44-0A91-8022-751F-D97F5068F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297" y="943583"/>
            <a:ext cx="10903085" cy="5680952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b="1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[ Flutter TTS ] </a:t>
            </a:r>
          </a:p>
          <a:p>
            <a:pPr marL="0" indent="0">
              <a:buNone/>
            </a:pPr>
            <a:r>
              <a:rPr lang="en-US" sz="24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	{https://pub.dev/packages/flutter_tts}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[ Flutter STT ] </a:t>
            </a:r>
          </a:p>
          <a:p>
            <a:pPr marL="0" indent="0">
              <a:buNone/>
            </a:pPr>
            <a:r>
              <a:rPr lang="en-US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{https://pub.dev/packages/speech_to_text}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[ Editors ] </a:t>
            </a:r>
          </a:p>
          <a:p>
            <a:pPr marL="0" lvl="3" indent="0">
              <a:spcBef>
                <a:spcPts val="1000"/>
              </a:spcBef>
              <a:buNone/>
            </a:pPr>
            <a:r>
              <a:rPr lang="en-US" sz="2000" b="1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{https://www.markdownguide.org/basic-syntax/}</a:t>
            </a:r>
          </a:p>
          <a:p>
            <a:pPr marL="0" indent="0">
              <a:buNone/>
            </a:pPr>
            <a:r>
              <a:rPr lang="en-US" sz="24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	{https://pub.dev/packages/flutter_markdown}</a:t>
            </a:r>
          </a:p>
          <a:p>
            <a:pPr marL="0" lvl="3" indent="0">
              <a:spcBef>
                <a:spcPts val="1000"/>
              </a:spcBef>
              <a:buNone/>
            </a:pPr>
            <a:r>
              <a:rPr lang="en-US" sz="24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	{https://pub.dev/packages/flutter_quill}</a:t>
            </a:r>
          </a:p>
          <a:p>
            <a:pPr marL="0" lvl="3" indent="0">
              <a:spcBef>
                <a:spcPts val="1000"/>
              </a:spcBef>
              <a:buNone/>
            </a:pPr>
            <a:r>
              <a:rPr lang="en-US" sz="24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                  {https://pub.dev/packages/appflowy_editor}</a:t>
            </a:r>
          </a:p>
          <a:p>
            <a:pPr marL="457200" indent="-457200">
              <a:buAutoNum type="arabicPeriod" startAt="4"/>
            </a:pPr>
            <a:r>
              <a:rPr lang="en-IN" sz="2400" b="1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[ Text Summarizer ] </a:t>
            </a:r>
          </a:p>
          <a:p>
            <a:pPr marL="0" indent="0">
              <a:buNone/>
            </a:pPr>
            <a:r>
              <a:rPr lang="en-IN" sz="2400" b="1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IN" sz="24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{https://pub.dev/packages/flutter_gemini}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IN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	{https://pub.dev/packages/dart_openai}</a:t>
            </a:r>
          </a:p>
          <a:p>
            <a:pPr marL="457200" lvl="1" indent="0">
              <a:buNone/>
            </a:pPr>
            <a:endParaRPr lang="en-IN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[ Other ]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https://timesofindia.indiatimes.com/readersblog/be-best/the-psychology-behind-keeping-a-diary-how-can-writing-help-you-with-stress-and-anxiety-44669/</a:t>
            </a:r>
            <a:endParaRPr lang="en-IN" sz="24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https://www.scientificamerican.com/article/extrovert-or-introvert-most-people-are-actually-ambiverts/</a:t>
            </a:r>
            <a:endParaRPr lang="en-IN" sz="24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4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https://github.com/nuttyartist/plume-public?tab=readme-ov-file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https://medium.com/spidernitt/how-to-build-a-text-summarizer-from-scratch-1a68e39558c4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52415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34489-BEC4-5776-462F-616099106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034209"/>
              </p:ext>
            </p:extLst>
          </p:nvPr>
        </p:nvGraphicFramePr>
        <p:xfrm>
          <a:off x="2644878" y="901700"/>
          <a:ext cx="6685935" cy="4785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15462">
                  <a:extLst>
                    <a:ext uri="{9D8B030D-6E8A-4147-A177-3AD203B41FA5}">
                      <a16:colId xmlns:a16="http://schemas.microsoft.com/office/drawing/2014/main" val="1738579236"/>
                    </a:ext>
                  </a:extLst>
                </a:gridCol>
                <a:gridCol w="1437668">
                  <a:extLst>
                    <a:ext uri="{9D8B030D-6E8A-4147-A177-3AD203B41FA5}">
                      <a16:colId xmlns:a16="http://schemas.microsoft.com/office/drawing/2014/main" val="1203664448"/>
                    </a:ext>
                  </a:extLst>
                </a:gridCol>
                <a:gridCol w="1554632">
                  <a:extLst>
                    <a:ext uri="{9D8B030D-6E8A-4147-A177-3AD203B41FA5}">
                      <a16:colId xmlns:a16="http://schemas.microsoft.com/office/drawing/2014/main" val="309741423"/>
                    </a:ext>
                  </a:extLst>
                </a:gridCol>
                <a:gridCol w="1778173">
                  <a:extLst>
                    <a:ext uri="{9D8B030D-6E8A-4147-A177-3AD203B41FA5}">
                      <a16:colId xmlns:a16="http://schemas.microsoft.com/office/drawing/2014/main" val="86256042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u="none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Login</a:t>
                      </a:r>
                      <a:endParaRPr lang="en-US" u="none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BC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u="none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BC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u="none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BC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u="none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BCC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239"/>
                  </a:ext>
                </a:extLst>
              </a:tr>
              <a:tr h="419533">
                <a:tc>
                  <a:txBody>
                    <a:bodyPr/>
                    <a:lstStyle/>
                    <a:p>
                      <a:r>
                        <a:rPr lang="en-US" dirty="0"/>
                        <a:t>Element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Auto Increment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0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Key, Foreign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4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varchar(32)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Foreign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085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Password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varchar(64)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752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varchar(4)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705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Pin login Enabled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Boolean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475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Account login available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Boolean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5557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Login attempt 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39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Last login attempt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179892"/>
                  </a:ext>
                </a:extLst>
              </a:tr>
            </a:tbl>
          </a:graphicData>
        </a:graphic>
      </p:graphicFrame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37E1250B-CD12-9ECD-9923-7DE0E48942DF}"/>
              </a:ext>
            </a:extLst>
          </p:cNvPr>
          <p:cNvSpPr/>
          <p:nvPr/>
        </p:nvSpPr>
        <p:spPr>
          <a:xfrm>
            <a:off x="1714253" y="356616"/>
            <a:ext cx="8275320" cy="6144768"/>
          </a:xfrm>
          <a:prstGeom prst="rect">
            <a:avLst/>
          </a:prstGeom>
          <a:noFill/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8779891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34489-BEC4-5776-462F-616099106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756075"/>
              </p:ext>
            </p:extLst>
          </p:nvPr>
        </p:nvGraphicFramePr>
        <p:xfrm>
          <a:off x="3245464" y="612949"/>
          <a:ext cx="6189939" cy="531033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68046">
                  <a:extLst>
                    <a:ext uri="{9D8B030D-6E8A-4147-A177-3AD203B41FA5}">
                      <a16:colId xmlns:a16="http://schemas.microsoft.com/office/drawing/2014/main" val="1738579236"/>
                    </a:ext>
                  </a:extLst>
                </a:gridCol>
                <a:gridCol w="1368046">
                  <a:extLst>
                    <a:ext uri="{9D8B030D-6E8A-4147-A177-3AD203B41FA5}">
                      <a16:colId xmlns:a16="http://schemas.microsoft.com/office/drawing/2014/main" val="1203664448"/>
                    </a:ext>
                  </a:extLst>
                </a:gridCol>
                <a:gridCol w="1542955">
                  <a:extLst>
                    <a:ext uri="{9D8B030D-6E8A-4147-A177-3AD203B41FA5}">
                      <a16:colId xmlns:a16="http://schemas.microsoft.com/office/drawing/2014/main" val="309741423"/>
                    </a:ext>
                  </a:extLst>
                </a:gridCol>
                <a:gridCol w="1910892">
                  <a:extLst>
                    <a:ext uri="{9D8B030D-6E8A-4147-A177-3AD203B41FA5}">
                      <a16:colId xmlns:a16="http://schemas.microsoft.com/office/drawing/2014/main" val="862560420"/>
                    </a:ext>
                  </a:extLst>
                </a:gridCol>
              </a:tblGrid>
              <a:tr h="39476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Account</a:t>
                      </a:r>
                      <a:endParaRPr lang="en-US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BC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239"/>
                  </a:ext>
                </a:extLst>
              </a:tr>
              <a:tr h="394760">
                <a:tc>
                  <a:txBody>
                    <a:bodyPr/>
                    <a:lstStyle/>
                    <a:p>
                      <a:r>
                        <a:rPr lang="en-US" dirty="0"/>
                        <a:t>Element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Increment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06626"/>
                  </a:ext>
                </a:extLst>
              </a:tr>
              <a:tr h="394760">
                <a:tc>
                  <a:txBody>
                    <a:bodyPr/>
                    <a:lstStyle/>
                    <a:p>
                      <a:r>
                        <a:rPr lang="en-US" dirty="0"/>
                        <a:t>User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44736"/>
                  </a:ext>
                </a:extLst>
              </a:tr>
              <a:tr h="394760">
                <a:tc>
                  <a:txBody>
                    <a:bodyPr/>
                    <a:lstStyle/>
                    <a:p>
                      <a:r>
                        <a:rPr lang="en-US" dirty="0"/>
                        <a:t>username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varchar(32)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085661"/>
                  </a:ext>
                </a:extLst>
              </a:tr>
              <a:tr h="394760"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varchar(64)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752324"/>
                  </a:ext>
                </a:extLst>
              </a:tr>
              <a:tr h="394760">
                <a:tc>
                  <a:txBody>
                    <a:bodyPr/>
                    <a:lstStyle/>
                    <a:p>
                      <a:r>
                        <a:rPr lang="en-US" dirty="0"/>
                        <a:t>First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varchar(32)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705323"/>
                  </a:ext>
                </a:extLst>
              </a:tr>
              <a:tr h="394760">
                <a:tc>
                  <a:txBody>
                    <a:bodyPr/>
                    <a:lstStyle/>
                    <a:p>
                      <a:r>
                        <a:rPr lang="en-US" dirty="0"/>
                        <a:t>Last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varchar(32)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475158"/>
                  </a:ext>
                </a:extLst>
              </a:tr>
              <a:tr h="394760"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enum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5557596"/>
                  </a:ext>
                </a:extLst>
              </a:tr>
              <a:tr h="394760">
                <a:tc>
                  <a:txBody>
                    <a:bodyPr/>
                    <a:lstStyle/>
                    <a:p>
                      <a:r>
                        <a:rPr lang="en-US" dirty="0"/>
                        <a:t>DOB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398601"/>
                  </a:ext>
                </a:extLst>
              </a:tr>
              <a:tr h="681367">
                <a:tc>
                  <a:txBody>
                    <a:bodyPr/>
                    <a:lstStyle/>
                    <a:p>
                      <a:r>
                        <a:rPr lang="en-US" dirty="0"/>
                        <a:t>PFP URL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varchar(255)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3074950"/>
                  </a:ext>
                </a:extLst>
              </a:tr>
              <a:tr h="681367">
                <a:tc>
                  <a:txBody>
                    <a:bodyPr/>
                    <a:lstStyle/>
                    <a:p>
                      <a:r>
                        <a:rPr lang="en-US" dirty="0"/>
                        <a:t>Date Joined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179892"/>
                  </a:ext>
                </a:extLst>
              </a:tr>
              <a:tr h="394760">
                <a:tc>
                  <a:txBody>
                    <a:bodyPr/>
                    <a:lstStyle/>
                    <a:p>
                      <a:r>
                        <a:rPr lang="en-US" dirty="0"/>
                        <a:t>Theme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1584163"/>
                  </a:ext>
                </a:extLst>
              </a:tr>
            </a:tbl>
          </a:graphicData>
        </a:graphic>
      </p:graphicFrame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53765C19-7E5B-763E-B35B-571DDAF3E935}"/>
              </a:ext>
            </a:extLst>
          </p:cNvPr>
          <p:cNvSpPr/>
          <p:nvPr/>
        </p:nvSpPr>
        <p:spPr>
          <a:xfrm>
            <a:off x="2036998" y="195732"/>
            <a:ext cx="8275320" cy="6144768"/>
          </a:xfrm>
          <a:prstGeom prst="rect">
            <a:avLst/>
          </a:prstGeom>
          <a:noFill/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65094364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34489-BEC4-5776-462F-616099106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284371"/>
              </p:ext>
            </p:extLst>
          </p:nvPr>
        </p:nvGraphicFramePr>
        <p:xfrm>
          <a:off x="2769121" y="1811020"/>
          <a:ext cx="6653758" cy="2966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24364">
                  <a:extLst>
                    <a:ext uri="{9D8B030D-6E8A-4147-A177-3AD203B41FA5}">
                      <a16:colId xmlns:a16="http://schemas.microsoft.com/office/drawing/2014/main" val="1738579236"/>
                    </a:ext>
                  </a:extLst>
                </a:gridCol>
                <a:gridCol w="1440724">
                  <a:extLst>
                    <a:ext uri="{9D8B030D-6E8A-4147-A177-3AD203B41FA5}">
                      <a16:colId xmlns:a16="http://schemas.microsoft.com/office/drawing/2014/main" val="1203664448"/>
                    </a:ext>
                  </a:extLst>
                </a:gridCol>
                <a:gridCol w="1368025">
                  <a:extLst>
                    <a:ext uri="{9D8B030D-6E8A-4147-A177-3AD203B41FA5}">
                      <a16:colId xmlns:a16="http://schemas.microsoft.com/office/drawing/2014/main" val="309741423"/>
                    </a:ext>
                  </a:extLst>
                </a:gridCol>
                <a:gridCol w="1720645">
                  <a:extLst>
                    <a:ext uri="{9D8B030D-6E8A-4147-A177-3AD203B41FA5}">
                      <a16:colId xmlns:a16="http://schemas.microsoft.com/office/drawing/2014/main" val="86256042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Diaries</a:t>
                      </a:r>
                      <a:endParaRPr lang="en-US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BC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Increment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0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Diary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4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Foreign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085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Public/Private 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Boolean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752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Last Modified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Timestamp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705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 Created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Timestamp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475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Content Link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Varchar(255)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5557596"/>
                  </a:ext>
                </a:extLst>
              </a:tr>
            </a:tbl>
          </a:graphicData>
        </a:graphic>
      </p:graphicFrame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46AB28C2-75B4-0908-24AE-4E5A65F90054}"/>
              </a:ext>
            </a:extLst>
          </p:cNvPr>
          <p:cNvSpPr/>
          <p:nvPr/>
        </p:nvSpPr>
        <p:spPr>
          <a:xfrm>
            <a:off x="1832754" y="356616"/>
            <a:ext cx="8275320" cy="6144768"/>
          </a:xfrm>
          <a:prstGeom prst="rect">
            <a:avLst/>
          </a:prstGeom>
          <a:noFill/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1746456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34489-BEC4-5776-462F-616099106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929793"/>
              </p:ext>
            </p:extLst>
          </p:nvPr>
        </p:nvGraphicFramePr>
        <p:xfrm>
          <a:off x="2595716" y="2316480"/>
          <a:ext cx="7000568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26879">
                  <a:extLst>
                    <a:ext uri="{9D8B030D-6E8A-4147-A177-3AD203B41FA5}">
                      <a16:colId xmlns:a16="http://schemas.microsoft.com/office/drawing/2014/main" val="1738579236"/>
                    </a:ext>
                  </a:extLst>
                </a:gridCol>
                <a:gridCol w="1440553">
                  <a:extLst>
                    <a:ext uri="{9D8B030D-6E8A-4147-A177-3AD203B41FA5}">
                      <a16:colId xmlns:a16="http://schemas.microsoft.com/office/drawing/2014/main" val="1203664448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309741423"/>
                    </a:ext>
                  </a:extLst>
                </a:gridCol>
                <a:gridCol w="1887794">
                  <a:extLst>
                    <a:ext uri="{9D8B030D-6E8A-4147-A177-3AD203B41FA5}">
                      <a16:colId xmlns:a16="http://schemas.microsoft.com/office/drawing/2014/main" val="86256042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Themes</a:t>
                      </a:r>
                      <a:r>
                        <a:rPr lang="en-US" dirty="0">
                          <a:ln>
                            <a:noFill/>
                          </a:ln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BC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Increment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0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Theme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4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Theme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varchar(24)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085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Theme 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Varchar(64)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752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Format Link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Varchar(255)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705323"/>
                  </a:ext>
                </a:extLst>
              </a:tr>
            </a:tbl>
          </a:graphicData>
        </a:graphic>
      </p:graphicFrame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C606C895-AABF-2F41-E887-C44B9385B8E7}"/>
              </a:ext>
            </a:extLst>
          </p:cNvPr>
          <p:cNvSpPr/>
          <p:nvPr/>
        </p:nvSpPr>
        <p:spPr>
          <a:xfrm>
            <a:off x="1764792" y="320040"/>
            <a:ext cx="8275320" cy="6144768"/>
          </a:xfrm>
          <a:prstGeom prst="rect">
            <a:avLst/>
          </a:prstGeom>
          <a:noFill/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8319025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34489-BEC4-5776-462F-616099106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240145"/>
              </p:ext>
            </p:extLst>
          </p:nvPr>
        </p:nvGraphicFramePr>
        <p:xfrm>
          <a:off x="2753032" y="2316480"/>
          <a:ext cx="6685936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12247">
                  <a:extLst>
                    <a:ext uri="{9D8B030D-6E8A-4147-A177-3AD203B41FA5}">
                      <a16:colId xmlns:a16="http://schemas.microsoft.com/office/drawing/2014/main" val="1738579236"/>
                    </a:ext>
                  </a:extLst>
                </a:gridCol>
                <a:gridCol w="1440553">
                  <a:extLst>
                    <a:ext uri="{9D8B030D-6E8A-4147-A177-3AD203B41FA5}">
                      <a16:colId xmlns:a16="http://schemas.microsoft.com/office/drawing/2014/main" val="1203664448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309741423"/>
                    </a:ext>
                  </a:extLst>
                </a:gridCol>
                <a:gridCol w="1887794">
                  <a:extLst>
                    <a:ext uri="{9D8B030D-6E8A-4147-A177-3AD203B41FA5}">
                      <a16:colId xmlns:a16="http://schemas.microsoft.com/office/drawing/2014/main" val="86256042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Friend List </a:t>
                      </a:r>
                      <a:endParaRPr lang="en-US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BC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Increment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0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Friend Numbers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4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Foreign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085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Friend User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Enum(ids)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752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Status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Boolean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705323"/>
                  </a:ext>
                </a:extLst>
              </a:tr>
            </a:tbl>
          </a:graphicData>
        </a:graphic>
      </p:graphicFrame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8999FE40-0ECC-2758-4027-E984E62DDE87}"/>
              </a:ext>
            </a:extLst>
          </p:cNvPr>
          <p:cNvSpPr/>
          <p:nvPr/>
        </p:nvSpPr>
        <p:spPr>
          <a:xfrm>
            <a:off x="1764792" y="320040"/>
            <a:ext cx="8275320" cy="6144768"/>
          </a:xfrm>
          <a:prstGeom prst="rect">
            <a:avLst/>
          </a:prstGeom>
          <a:noFill/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7563998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34489-BEC4-5776-462F-616099106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68443"/>
              </p:ext>
            </p:extLst>
          </p:nvPr>
        </p:nvGraphicFramePr>
        <p:xfrm>
          <a:off x="2630129" y="1676400"/>
          <a:ext cx="6931742" cy="2966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58053">
                  <a:extLst>
                    <a:ext uri="{9D8B030D-6E8A-4147-A177-3AD203B41FA5}">
                      <a16:colId xmlns:a16="http://schemas.microsoft.com/office/drawing/2014/main" val="1738579236"/>
                    </a:ext>
                  </a:extLst>
                </a:gridCol>
                <a:gridCol w="1440553">
                  <a:extLst>
                    <a:ext uri="{9D8B030D-6E8A-4147-A177-3AD203B41FA5}">
                      <a16:colId xmlns:a16="http://schemas.microsoft.com/office/drawing/2014/main" val="1203664448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309741423"/>
                    </a:ext>
                  </a:extLst>
                </a:gridCol>
                <a:gridCol w="1887794">
                  <a:extLst>
                    <a:ext uri="{9D8B030D-6E8A-4147-A177-3AD203B41FA5}">
                      <a16:colId xmlns:a16="http://schemas.microsoft.com/office/drawing/2014/main" val="86256042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Notification</a:t>
                      </a:r>
                      <a:endParaRPr lang="en-US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BC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Increment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0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Notification 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4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Notification Type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varchar(24)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085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Notification Desc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Varchar(255)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752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Notification Time</a:t>
                      </a:r>
                      <a:r>
                        <a:rPr lang="en-US" dirty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Datetime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705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Notification Date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Datetime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229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Reminder Frequency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Integer(2)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904070"/>
                  </a:ext>
                </a:extLst>
              </a:tr>
            </a:tbl>
          </a:graphicData>
        </a:graphic>
      </p:graphicFrame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5F561E98-31E5-A0BA-2A9D-7B9198BEE629}"/>
              </a:ext>
            </a:extLst>
          </p:cNvPr>
          <p:cNvSpPr/>
          <p:nvPr/>
        </p:nvSpPr>
        <p:spPr>
          <a:xfrm>
            <a:off x="1764792" y="320040"/>
            <a:ext cx="8275320" cy="6144768"/>
          </a:xfrm>
          <a:prstGeom prst="rect">
            <a:avLst/>
          </a:prstGeom>
          <a:noFill/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5109444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34489-BEC4-5776-462F-616099106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892884"/>
              </p:ext>
            </p:extLst>
          </p:nvPr>
        </p:nvGraphicFramePr>
        <p:xfrm>
          <a:off x="2630129" y="2552700"/>
          <a:ext cx="6931742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58053">
                  <a:extLst>
                    <a:ext uri="{9D8B030D-6E8A-4147-A177-3AD203B41FA5}">
                      <a16:colId xmlns:a16="http://schemas.microsoft.com/office/drawing/2014/main" val="1738579236"/>
                    </a:ext>
                  </a:extLst>
                </a:gridCol>
                <a:gridCol w="1440553">
                  <a:extLst>
                    <a:ext uri="{9D8B030D-6E8A-4147-A177-3AD203B41FA5}">
                      <a16:colId xmlns:a16="http://schemas.microsoft.com/office/drawing/2014/main" val="1203664448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309741423"/>
                    </a:ext>
                  </a:extLst>
                </a:gridCol>
                <a:gridCol w="1887794">
                  <a:extLst>
                    <a:ext uri="{9D8B030D-6E8A-4147-A177-3AD203B41FA5}">
                      <a16:colId xmlns:a16="http://schemas.microsoft.com/office/drawing/2014/main" val="86256042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Streak</a:t>
                      </a:r>
                      <a:endParaRPr lang="en-US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BC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Increment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0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Streak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806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User 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4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Date Started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Datetime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085661"/>
                  </a:ext>
                </a:extLst>
              </a:tr>
            </a:tbl>
          </a:graphicData>
        </a:graphic>
      </p:graphicFrame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5FC20F6D-28A8-D2CD-086A-71E8A9FDA6DD}"/>
              </a:ext>
            </a:extLst>
          </p:cNvPr>
          <p:cNvSpPr/>
          <p:nvPr/>
        </p:nvSpPr>
        <p:spPr>
          <a:xfrm>
            <a:off x="2197411" y="285135"/>
            <a:ext cx="8275320" cy="6144768"/>
          </a:xfrm>
          <a:prstGeom prst="rect">
            <a:avLst/>
          </a:prstGeom>
          <a:noFill/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675184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34489-BEC4-5776-462F-616099106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375450"/>
              </p:ext>
            </p:extLst>
          </p:nvPr>
        </p:nvGraphicFramePr>
        <p:xfrm>
          <a:off x="2630129" y="2316480"/>
          <a:ext cx="6931742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58053">
                  <a:extLst>
                    <a:ext uri="{9D8B030D-6E8A-4147-A177-3AD203B41FA5}">
                      <a16:colId xmlns:a16="http://schemas.microsoft.com/office/drawing/2014/main" val="1738579236"/>
                    </a:ext>
                  </a:extLst>
                </a:gridCol>
                <a:gridCol w="1440553">
                  <a:extLst>
                    <a:ext uri="{9D8B030D-6E8A-4147-A177-3AD203B41FA5}">
                      <a16:colId xmlns:a16="http://schemas.microsoft.com/office/drawing/2014/main" val="1203664448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309741423"/>
                    </a:ext>
                  </a:extLst>
                </a:gridCol>
                <a:gridCol w="1887794">
                  <a:extLst>
                    <a:ext uri="{9D8B030D-6E8A-4147-A177-3AD203B41FA5}">
                      <a16:colId xmlns:a16="http://schemas.microsoft.com/office/drawing/2014/main" val="86256042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User Badge Info</a:t>
                      </a:r>
                      <a:endParaRPr lang="en-US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BC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Increment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0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Badge 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4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Badge Number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Foreign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085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User 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Foreign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752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Date Given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Datetime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705323"/>
                  </a:ext>
                </a:extLst>
              </a:tr>
            </a:tbl>
          </a:graphicData>
        </a:graphic>
      </p:graphicFrame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6836317B-B31A-992B-4175-1566DF2856BF}"/>
              </a:ext>
            </a:extLst>
          </p:cNvPr>
          <p:cNvSpPr/>
          <p:nvPr/>
        </p:nvSpPr>
        <p:spPr>
          <a:xfrm>
            <a:off x="1764792" y="320040"/>
            <a:ext cx="8275320" cy="6144768"/>
          </a:xfrm>
          <a:prstGeom prst="rect">
            <a:avLst/>
          </a:prstGeom>
          <a:noFill/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128932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34489-BEC4-5776-462F-616099106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801027"/>
              </p:ext>
            </p:extLst>
          </p:nvPr>
        </p:nvGraphicFramePr>
        <p:xfrm>
          <a:off x="2630129" y="1676400"/>
          <a:ext cx="6931742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58053">
                  <a:extLst>
                    <a:ext uri="{9D8B030D-6E8A-4147-A177-3AD203B41FA5}">
                      <a16:colId xmlns:a16="http://schemas.microsoft.com/office/drawing/2014/main" val="1738579236"/>
                    </a:ext>
                  </a:extLst>
                </a:gridCol>
                <a:gridCol w="1440553">
                  <a:extLst>
                    <a:ext uri="{9D8B030D-6E8A-4147-A177-3AD203B41FA5}">
                      <a16:colId xmlns:a16="http://schemas.microsoft.com/office/drawing/2014/main" val="1203664448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309741423"/>
                    </a:ext>
                  </a:extLst>
                </a:gridCol>
                <a:gridCol w="1887794">
                  <a:extLst>
                    <a:ext uri="{9D8B030D-6E8A-4147-A177-3AD203B41FA5}">
                      <a16:colId xmlns:a16="http://schemas.microsoft.com/office/drawing/2014/main" val="86256042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Badge</a:t>
                      </a:r>
                      <a:endParaRPr lang="en-US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BC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Increment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0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Badge Number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4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Badge Name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Varchar(24)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085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Badge Type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Varchar(24)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752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Badge Link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Varchar(255)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705323"/>
                  </a:ext>
                </a:extLst>
              </a:tr>
            </a:tbl>
          </a:graphicData>
        </a:graphic>
      </p:graphicFrame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C8AA7BD0-67FA-ECA5-11CA-72FE9864C860}"/>
              </a:ext>
            </a:extLst>
          </p:cNvPr>
          <p:cNvSpPr/>
          <p:nvPr/>
        </p:nvSpPr>
        <p:spPr>
          <a:xfrm>
            <a:off x="1764792" y="320040"/>
            <a:ext cx="8275320" cy="6144768"/>
          </a:xfrm>
          <a:prstGeom prst="rect">
            <a:avLst/>
          </a:prstGeom>
          <a:noFill/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512920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34489-BEC4-5776-462F-616099106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00597"/>
              </p:ext>
            </p:extLst>
          </p:nvPr>
        </p:nvGraphicFramePr>
        <p:xfrm>
          <a:off x="2630129" y="2316480"/>
          <a:ext cx="6931742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58053">
                  <a:extLst>
                    <a:ext uri="{9D8B030D-6E8A-4147-A177-3AD203B41FA5}">
                      <a16:colId xmlns:a16="http://schemas.microsoft.com/office/drawing/2014/main" val="1738579236"/>
                    </a:ext>
                  </a:extLst>
                </a:gridCol>
                <a:gridCol w="1440553">
                  <a:extLst>
                    <a:ext uri="{9D8B030D-6E8A-4147-A177-3AD203B41FA5}">
                      <a16:colId xmlns:a16="http://schemas.microsoft.com/office/drawing/2014/main" val="1203664448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309741423"/>
                    </a:ext>
                  </a:extLst>
                </a:gridCol>
                <a:gridCol w="1887794">
                  <a:extLst>
                    <a:ext uri="{9D8B030D-6E8A-4147-A177-3AD203B41FA5}">
                      <a16:colId xmlns:a16="http://schemas.microsoft.com/office/drawing/2014/main" val="86256042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Template</a:t>
                      </a:r>
                      <a:endParaRPr lang="en-US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BC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Increment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0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Template 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4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Template Name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Varchar(24)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085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Template Link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Varchar(255)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752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User 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Foreign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705323"/>
                  </a:ext>
                </a:extLst>
              </a:tr>
            </a:tbl>
          </a:graphicData>
        </a:graphic>
      </p:graphicFrame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3D0B87FF-5468-78C2-1D84-F2AD8194C753}"/>
              </a:ext>
            </a:extLst>
          </p:cNvPr>
          <p:cNvSpPr/>
          <p:nvPr/>
        </p:nvSpPr>
        <p:spPr>
          <a:xfrm>
            <a:off x="1764792" y="320040"/>
            <a:ext cx="8275320" cy="6144768"/>
          </a:xfrm>
          <a:prstGeom prst="rect">
            <a:avLst/>
          </a:prstGeom>
          <a:noFill/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0990666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34489-BEC4-5776-462F-616099106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252280"/>
              </p:ext>
            </p:extLst>
          </p:nvPr>
        </p:nvGraphicFramePr>
        <p:xfrm>
          <a:off x="2630129" y="2131060"/>
          <a:ext cx="6931742" cy="25958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58053">
                  <a:extLst>
                    <a:ext uri="{9D8B030D-6E8A-4147-A177-3AD203B41FA5}">
                      <a16:colId xmlns:a16="http://schemas.microsoft.com/office/drawing/2014/main" val="1738579236"/>
                    </a:ext>
                  </a:extLst>
                </a:gridCol>
                <a:gridCol w="1440553">
                  <a:extLst>
                    <a:ext uri="{9D8B030D-6E8A-4147-A177-3AD203B41FA5}">
                      <a16:colId xmlns:a16="http://schemas.microsoft.com/office/drawing/2014/main" val="1203664448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309741423"/>
                    </a:ext>
                  </a:extLst>
                </a:gridCol>
                <a:gridCol w="1887794">
                  <a:extLst>
                    <a:ext uri="{9D8B030D-6E8A-4147-A177-3AD203B41FA5}">
                      <a16:colId xmlns:a16="http://schemas.microsoft.com/office/drawing/2014/main" val="86256042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Backup History</a:t>
                      </a:r>
                      <a:endParaRPr lang="en-US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BC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Increment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0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Backup 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4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Foreign key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86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Backup Date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Timestamp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085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Backup Location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Varchar(255)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752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Status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Boolean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705323"/>
                  </a:ext>
                </a:extLst>
              </a:tr>
            </a:tbl>
          </a:graphicData>
        </a:graphic>
      </p:graphicFrame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9BA1B3E2-90E1-DD9C-F0A6-50F72D2AF24A}"/>
              </a:ext>
            </a:extLst>
          </p:cNvPr>
          <p:cNvSpPr/>
          <p:nvPr/>
        </p:nvSpPr>
        <p:spPr>
          <a:xfrm>
            <a:off x="1764792" y="320040"/>
            <a:ext cx="8275320" cy="6144768"/>
          </a:xfrm>
          <a:prstGeom prst="rect">
            <a:avLst/>
          </a:prstGeom>
          <a:noFill/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5232127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34489-BEC4-5776-462F-616099106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042709"/>
              </p:ext>
            </p:extLst>
          </p:nvPr>
        </p:nvGraphicFramePr>
        <p:xfrm>
          <a:off x="2630129" y="2501900"/>
          <a:ext cx="6931742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58053">
                  <a:extLst>
                    <a:ext uri="{9D8B030D-6E8A-4147-A177-3AD203B41FA5}">
                      <a16:colId xmlns:a16="http://schemas.microsoft.com/office/drawing/2014/main" val="1738579236"/>
                    </a:ext>
                  </a:extLst>
                </a:gridCol>
                <a:gridCol w="1440553">
                  <a:extLst>
                    <a:ext uri="{9D8B030D-6E8A-4147-A177-3AD203B41FA5}">
                      <a16:colId xmlns:a16="http://schemas.microsoft.com/office/drawing/2014/main" val="1203664448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309741423"/>
                    </a:ext>
                  </a:extLst>
                </a:gridCol>
                <a:gridCol w="1887794">
                  <a:extLst>
                    <a:ext uri="{9D8B030D-6E8A-4147-A177-3AD203B41FA5}">
                      <a16:colId xmlns:a16="http://schemas.microsoft.com/office/drawing/2014/main" val="86256042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Reaction Type</a:t>
                      </a:r>
                      <a:endParaRPr lang="en-US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BC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Increment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0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Reaction 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4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Reaction Name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Varchar(24)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86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Reaction Description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Varchar(64)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085661"/>
                  </a:ext>
                </a:extLst>
              </a:tr>
            </a:tbl>
          </a:graphicData>
        </a:graphic>
      </p:graphicFrame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59FE27E5-BE29-53DE-CEF7-0194449CAC89}"/>
              </a:ext>
            </a:extLst>
          </p:cNvPr>
          <p:cNvSpPr/>
          <p:nvPr/>
        </p:nvSpPr>
        <p:spPr>
          <a:xfrm>
            <a:off x="1764792" y="320040"/>
            <a:ext cx="8275320" cy="6144768"/>
          </a:xfrm>
          <a:prstGeom prst="rect">
            <a:avLst/>
          </a:prstGeom>
          <a:noFill/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36264117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34489-BEC4-5776-462F-616099106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736017"/>
              </p:ext>
            </p:extLst>
          </p:nvPr>
        </p:nvGraphicFramePr>
        <p:xfrm>
          <a:off x="2630129" y="2316480"/>
          <a:ext cx="6931742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58053">
                  <a:extLst>
                    <a:ext uri="{9D8B030D-6E8A-4147-A177-3AD203B41FA5}">
                      <a16:colId xmlns:a16="http://schemas.microsoft.com/office/drawing/2014/main" val="1738579236"/>
                    </a:ext>
                  </a:extLst>
                </a:gridCol>
                <a:gridCol w="1440553">
                  <a:extLst>
                    <a:ext uri="{9D8B030D-6E8A-4147-A177-3AD203B41FA5}">
                      <a16:colId xmlns:a16="http://schemas.microsoft.com/office/drawing/2014/main" val="1203664448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309741423"/>
                    </a:ext>
                  </a:extLst>
                </a:gridCol>
                <a:gridCol w="1887794">
                  <a:extLst>
                    <a:ext uri="{9D8B030D-6E8A-4147-A177-3AD203B41FA5}">
                      <a16:colId xmlns:a16="http://schemas.microsoft.com/office/drawing/2014/main" val="86256042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Reactions</a:t>
                      </a:r>
                      <a:endParaRPr lang="en-US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BC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Increment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0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Reaction Number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4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Diary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Foreign key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86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User 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Foreign key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085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Reaction 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Foreign key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752324"/>
                  </a:ext>
                </a:extLst>
              </a:tr>
            </a:tbl>
          </a:graphicData>
        </a:graphic>
      </p:graphicFrame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77228F3A-0962-CC43-4338-50EBC4D6B9FB}"/>
              </a:ext>
            </a:extLst>
          </p:cNvPr>
          <p:cNvSpPr/>
          <p:nvPr/>
        </p:nvSpPr>
        <p:spPr>
          <a:xfrm>
            <a:off x="1843449" y="230271"/>
            <a:ext cx="8275320" cy="6144768"/>
          </a:xfrm>
          <a:prstGeom prst="rect">
            <a:avLst/>
          </a:prstGeom>
          <a:noFill/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31368042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34489-BEC4-5776-462F-616099106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212917"/>
              </p:ext>
            </p:extLst>
          </p:nvPr>
        </p:nvGraphicFramePr>
        <p:xfrm>
          <a:off x="2630129" y="2501900"/>
          <a:ext cx="6931742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58053">
                  <a:extLst>
                    <a:ext uri="{9D8B030D-6E8A-4147-A177-3AD203B41FA5}">
                      <a16:colId xmlns:a16="http://schemas.microsoft.com/office/drawing/2014/main" val="1738579236"/>
                    </a:ext>
                  </a:extLst>
                </a:gridCol>
                <a:gridCol w="1440553">
                  <a:extLst>
                    <a:ext uri="{9D8B030D-6E8A-4147-A177-3AD203B41FA5}">
                      <a16:colId xmlns:a16="http://schemas.microsoft.com/office/drawing/2014/main" val="1203664448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309741423"/>
                    </a:ext>
                  </a:extLst>
                </a:gridCol>
                <a:gridCol w="1887794">
                  <a:extLst>
                    <a:ext uri="{9D8B030D-6E8A-4147-A177-3AD203B41FA5}">
                      <a16:colId xmlns:a16="http://schemas.microsoft.com/office/drawing/2014/main" val="86256042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Tags</a:t>
                      </a:r>
                      <a:endParaRPr lang="en-US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BC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Increment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0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Tag 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4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Tag Name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Varchar(24)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86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Description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Varchar(64)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085661"/>
                  </a:ext>
                </a:extLst>
              </a:tr>
            </a:tbl>
          </a:graphicData>
        </a:graphic>
      </p:graphicFrame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6C3EB851-3391-F512-2D60-EC58EC78275C}"/>
              </a:ext>
            </a:extLst>
          </p:cNvPr>
          <p:cNvSpPr/>
          <p:nvPr/>
        </p:nvSpPr>
        <p:spPr>
          <a:xfrm>
            <a:off x="1764792" y="320040"/>
            <a:ext cx="8275320" cy="6144768"/>
          </a:xfrm>
          <a:prstGeom prst="rect">
            <a:avLst/>
          </a:prstGeom>
          <a:noFill/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693240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34489-BEC4-5776-462F-616099106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111509"/>
              </p:ext>
            </p:extLst>
          </p:nvPr>
        </p:nvGraphicFramePr>
        <p:xfrm>
          <a:off x="2630129" y="2687320"/>
          <a:ext cx="6931742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58053">
                  <a:extLst>
                    <a:ext uri="{9D8B030D-6E8A-4147-A177-3AD203B41FA5}">
                      <a16:colId xmlns:a16="http://schemas.microsoft.com/office/drawing/2014/main" val="1738579236"/>
                    </a:ext>
                  </a:extLst>
                </a:gridCol>
                <a:gridCol w="1440553">
                  <a:extLst>
                    <a:ext uri="{9D8B030D-6E8A-4147-A177-3AD203B41FA5}">
                      <a16:colId xmlns:a16="http://schemas.microsoft.com/office/drawing/2014/main" val="1203664448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309741423"/>
                    </a:ext>
                  </a:extLst>
                </a:gridCol>
                <a:gridCol w="1887794">
                  <a:extLst>
                    <a:ext uri="{9D8B030D-6E8A-4147-A177-3AD203B41FA5}">
                      <a16:colId xmlns:a16="http://schemas.microsoft.com/office/drawing/2014/main" val="86256042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Tag Entries</a:t>
                      </a:r>
                      <a:endParaRPr lang="en-US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BC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Increment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ED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0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Diary 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eaLnBrk="1" fontAlgn="auto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Foreign key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44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</a:rPr>
                        <a:t>Tag 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Integer(8)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Foreign key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869200"/>
                  </a:ext>
                </a:extLst>
              </a:tr>
            </a:tbl>
          </a:graphicData>
        </a:graphic>
      </p:graphicFrame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3542C8F3-78B6-AF07-3742-5F6893AB5590}"/>
              </a:ext>
            </a:extLst>
          </p:cNvPr>
          <p:cNvSpPr/>
          <p:nvPr/>
        </p:nvSpPr>
        <p:spPr>
          <a:xfrm>
            <a:off x="1764792" y="320040"/>
            <a:ext cx="8275320" cy="6144768"/>
          </a:xfrm>
          <a:prstGeom prst="rect">
            <a:avLst/>
          </a:prstGeom>
          <a:noFill/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755733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ED33A27-1ECA-4118-815E-911651D5CC13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1808</TotalTime>
  <Words>1287</Words>
  <Application>Microsoft Office PowerPoint</Application>
  <PresentationFormat>Widescreen</PresentationFormat>
  <Paragraphs>440</Paragraphs>
  <Slides>75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75</vt:i4>
      </vt:variant>
    </vt:vector>
  </HeadingPairs>
  <TitlesOfParts>
    <vt:vector size="86" baseType="lpstr">
      <vt:lpstr>Aptos</vt:lpstr>
      <vt:lpstr>Arial</vt:lpstr>
      <vt:lpstr>Arial Narrow</vt:lpstr>
      <vt:lpstr>Brice SemiExpanded</vt:lpstr>
      <vt:lpstr>Calibri</vt:lpstr>
      <vt:lpstr>Calibri Light</vt:lpstr>
      <vt:lpstr>Google Sans Text</vt:lpstr>
      <vt:lpstr>Wingdings</vt:lpstr>
      <vt:lpstr>Office Theme</vt:lpstr>
      <vt:lpstr>Worksheet</vt:lpstr>
      <vt:lpstr>Packager Shell Object</vt:lpstr>
      <vt:lpstr>Capstone Project - 1</vt:lpstr>
      <vt:lpstr>Team </vt:lpstr>
      <vt:lpstr>Outline</vt:lpstr>
      <vt:lpstr>Bigger Problem ?</vt:lpstr>
      <vt:lpstr>PowerPoint Presentation</vt:lpstr>
      <vt:lpstr>PowerPoint Presentation</vt:lpstr>
      <vt:lpstr>PowerPoint Presentation</vt:lpstr>
      <vt:lpstr>PowerPoint Presentation</vt:lpstr>
      <vt:lpstr>Problem Statement </vt:lpstr>
      <vt:lpstr>no one solution!</vt:lpstr>
      <vt:lpstr>Our proposed solution!</vt:lpstr>
      <vt:lpstr>PowerPoint Presentation</vt:lpstr>
      <vt:lpstr>Aim </vt:lpstr>
      <vt:lpstr>Features </vt:lpstr>
      <vt:lpstr>Objectives </vt:lpstr>
      <vt:lpstr>study of similar applications</vt:lpstr>
      <vt:lpstr>PowerPoint Presentation</vt:lpstr>
      <vt:lpstr>PowerPoint Presentation</vt:lpstr>
      <vt:lpstr>PowerPoint Presentation</vt:lpstr>
      <vt:lpstr>PowerPoint Presentation</vt:lpstr>
      <vt:lpstr>Execution Plan</vt:lpstr>
      <vt:lpstr>Class Diagram</vt:lpstr>
      <vt:lpstr>PowerPoint Presentation</vt:lpstr>
      <vt:lpstr>State Diagram</vt:lpstr>
      <vt:lpstr>PowerPoint Presentation</vt:lpstr>
      <vt:lpstr>Activity Diagram</vt:lpstr>
      <vt:lpstr>PowerPoint Presentation</vt:lpstr>
      <vt:lpstr>Sequence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Dictionary</vt:lpstr>
      <vt:lpstr>PowerPoint Presentation</vt:lpstr>
      <vt:lpstr>Data Flow Diagram</vt:lpstr>
      <vt:lpstr>PowerPoint Presentation</vt:lpstr>
      <vt:lpstr>PowerPoint Presentation</vt:lpstr>
      <vt:lpstr>Use Case Diagram</vt:lpstr>
      <vt:lpstr>PowerPoint Presentation</vt:lpstr>
      <vt:lpstr>Graphical Design &amp; User 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Technology Stack: Tools &amp; Frameworks</vt:lpstr>
      <vt:lpstr>Technology Stack </vt:lpstr>
      <vt:lpstr>projected Timeline!</vt:lpstr>
      <vt:lpstr>PowerPoint Presentation</vt:lpstr>
      <vt:lpstr>Conclusion</vt:lpstr>
      <vt:lpstr>Thank You</vt:lpstr>
      <vt:lpstr>Reference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Mrunal Shah</dc:creator>
  <cp:lastModifiedBy>Mrunal Shah</cp:lastModifiedBy>
  <cp:revision>616</cp:revision>
  <cp:lastPrinted>2024-08-03T11:53:43Z</cp:lastPrinted>
  <dcterms:created xsi:type="dcterms:W3CDTF">2024-08-03T10:55:23Z</dcterms:created>
  <dcterms:modified xsi:type="dcterms:W3CDTF">2024-12-11T04:40:43Z</dcterms:modified>
</cp:coreProperties>
</file>